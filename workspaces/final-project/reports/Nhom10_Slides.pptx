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6"/>
    <p:sldId id="257" r:id="rId8"/>
    <p:sldId id="258" r:id="rId9"/>
    <p:sldId id="259" r:id="rId10"/>
    <p:sldId id="260" r:id="rId5"/>
    <p:sldId id="261" r:id="rId4"/>
    <p:sldId id="262" r:id="rId3"/>
    <p:sldId id="263" r:id="rId2"/>
    <p:sldId id="264" r:id="rId15"/>
    <p:sldId id="265" r:id="rId16"/>
    <p:sldId id="266" r:id="rId17"/>
    <p:sldId id="267"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3856" autoAdjust="0"/>
    <p:restoredTop sz="94660"/>
  </p:normalViewPr>
  <p:slideViewPr>
    <p:cSldViewPr snapToGrid="0">
      <p:cViewPr varScale="1">
        <p:scale>
          <a:sx n="61" d="100"/>
          <a:sy n="61" d="100"/>
        </p:scale>
        <p:origin x="92" y="4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8.xml"/><Relationship Id="rId3" Type="http://schemas.openxmlformats.org/officeDocument/2006/relationships/slide" Target="slides/slide7.xml"/><Relationship Id="rId4" Type="http://schemas.openxmlformats.org/officeDocument/2006/relationships/slide" Target="slides/slide6.xml"/><Relationship Id="rId5" Type="http://schemas.openxmlformats.org/officeDocument/2006/relationships/slide" Target="slides/slide5.xml"/><Relationship Id="rId6" Type="http://schemas.openxmlformats.org/officeDocument/2006/relationships/slide" Target="slides/slide1.xml"/><Relationship Id="rId7" Type="http://schemas.openxmlformats.org/officeDocument/2006/relationships/notesMaster" Target="notesMasters/notesMaster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Thắng – 45 giây. Giới thiệu đề tài và hai thành viên. Phân tích báo giá niêm yết tại một snapshot, không phải giá giao dịch. Nhóm xác nhận không tham khảo code/dự án mẫu, không sử dụng đề tài/dữ liệu cho môn khác; có AI hỗ trợ và nhóm chịu trách nhiệm kiểm tra.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Thắng – 40 giây. Nêu bốn RQ. Luồng trình bày: dữ liệu, xử lý, bốn RQ, kiểm tra khả thi hồi quy, kết quả và giới hạn.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Thiện – 50 giây. last_scraped từ 29/06 đến 02/07/2026. Một dòng là listing, không phải listing–ngày. Giá THB/đêm được đối chiếu trên 28.987 cặp với trường báo giá; chưa xác minh toàn bộ thuế/phí. Không suy ra doanh thu.</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Thiện – 50 giây. Loại 2.082 dòng thiếu giá, không suy diễn y. Ngoại lệ IQR chỉ được đánh dấu; giữ giá dương hữu hạn. Baseline giữ missing predictor; EDA dùng cặp hợp lệ. Imputer/scaler chỉ fit train nếu có mô hình khả thi. Raw bất biến, kiểm tra SHA-256.</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Thắng – 65 giây. Median 1.592; mean 2.955,96 THB/đêm; Q1 1.041,465 và Q3 2.539,565. Phân phối lệch phải. Trục log chỉ để hiển thị, không biến đổi target. Panel phải có 28.210 dòng trong khung; 777 dòng ngoài khung vẫn được giữ trong thống kê.</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Thắng – 70 giây. Shared room median 431,22 n=498; Private room 1.389,83 n=8.914; Entire home/apt 1.715,44 n=19.300; Hotel room 1.999 n=275. Hộp/râu tính toàn nhóm trước khi giới hạn trục 8.000. Q1–Q3 không là khoảng tin cậy. ANOVA F=5,9323 p=0,000485542; Levene W=3,123 p=0,0247826. Kết quả thăm dò, có giới hạn phân phối lệch, phương sai và phụ thuộc theo host; không suy ra nhân quả.</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Thắng – 65 giây. r chỉ khoảng 0,069–0,107; p nhỏ với n lớn không đồng nghĩa dự báo tốt. Scatter lấy tối đa 3.000 điểm mỗi biến và giới hạn trục 20.000; OLS/Pearson tính toàn bộ cặp hợp lệ. Không dùng EDA toàn mẫu để chọn biến trong CV. Chưa có phân tích độ nhạy để quy r thấp cho cực trị.</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Thắng – 60 giây. Trong cùng Entire home/apt: Bang Phlat có n=284, median 678,03; Samphanthawong n=105, median 3.115,50 THB/đêm. Ngưỡng n≥20 chỉ phục vụ hiển thị. Pivot 50×4 có 43 ô không mẫu và 27 ô với 1–4 listing. Chưa kiểm soát chất lượng/tiện nghi nên không tách riêng tác động vị trí.</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Thiện – 70 giây. Split 70/30 seed42, KFold 4-fold shuffle42. Chọn biến/fit transform chỉ trên training fold. Không biến số nào đạt |r|≥0,30 và p&lt;0,05; điều kiện ANOVA làm bộ lọc phân loại chưa xác nhận. Chưa xây hồi quy theo chính sách hiện tại, không chứng minh dữ liệu không thể mô hình hóa. Dummy dự đoán mean train 2.976,12; test MSE 315.021.203,83 và R² −0,000014334. Không có hệ số, alpha tối ưu hoặc hình phần dư hồi quy thực. 82,81% listing test thuộc host đã thấy ở train.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Thắng – 85 giây. Tổng hợp bốn phát hiện và các giới hạn, đối chiếu mỗi phát hiện với hình tương ứng. Nêu các việc chưa có cơ sở: đề xuất giá tối ưu, doanh thu, nhân quả, dự báo thời điểm khác hoặc chủ nhà mới. Kết quả hỗ trợ chọn nhóm báo giá để so sánh. Tổng slide 1–10: 600 giây. Chuyển Thiện thực hiện demo.</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Thiện chủ trì demo, Thắng mở báo cáo. 0:00–0:45 manifest/hash raw; 0:45–1:30 notebook 01 và cleaning; 1:30–2:30 notebook 02–03 với r/p/n và hình; 2:30–3:45 chạy notebook 04 từ kernel mới và mở artifact; 3:45–4:30 đối chiếu Word/PDF; 4:30–5:00 giới hạn. Đây là kịch bản dự kiến; cần tổng duyệt trên máy trình bày.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 thành viên cùng trả lời. Không nói dữ liệu không thể mô hình hóa, r thấp do outlier hay vị trí gây giá cao khi chưa có kiểm chứng. Chỉ nguồn tại manifest, EDA_METHODS, MODELING_METHODS, bốn notebook và review Bước 7. Câu hỏi ngoài phạm vi được ghi nhận là hạn chế hoặc hướng nghiên cứu tiếp theo.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717F56-AA68-4790-9DD5-3FB1E7CEE66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B218CE9-D28A-4643-B1E6-9D22B3A7709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59DCD89-83D6-440C-87C2-290B44BA9DB9}"/>
              </a:ext>
            </a:extLst>
          </p:cNvPr>
          <p:cNvSpPr>
            <a:spLocks noGrp="1"/>
          </p:cNvSpPr>
          <p:nvPr>
            <p:ph type="dt" sz="half" idx="10"/>
          </p:nvPr>
        </p:nvSpPr>
        <p:spPr/>
        <p:txBody>
          <a:bodyPr/>
          <a:lstStyle/>
          <a:p>
            <a:fld id="{1593D36A-4129-4868-A654-22E0AC15B4DF}" type="datetimeFigureOut">
              <a:rPr lang="en-US" smtClean="0"/>
              <a:t>1/6/2026</a:t>
            </a:fld>
            <a:endParaRPr lang="en-US"/>
          </a:p>
        </p:txBody>
      </p:sp>
      <p:sp>
        <p:nvSpPr>
          <p:cNvPr id="5" name="Footer Placeholder 4">
            <a:extLst>
              <a:ext uri="{FF2B5EF4-FFF2-40B4-BE49-F238E27FC236}">
                <a16:creationId xmlns:a16="http://schemas.microsoft.com/office/drawing/2014/main" id="{6B93C8B6-8ABB-4ED0-A214-7437F1CCD72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39B2E8D-5177-41B6-97F6-80990B274A72}"/>
              </a:ext>
            </a:extLst>
          </p:cNvPr>
          <p:cNvSpPr>
            <a:spLocks noGrp="1"/>
          </p:cNvSpPr>
          <p:nvPr>
            <p:ph type="sldNum" sz="quarter" idx="12"/>
          </p:nvPr>
        </p:nvSpPr>
        <p:spPr/>
        <p:txBody>
          <a:bodyPr/>
          <a:lstStyle/>
          <a:p>
            <a:fld id="{A3FFBE46-489F-4DCD-95CA-086B72C588F4}" type="slidenum">
              <a:rPr lang="en-US" smtClean="0"/>
              <a:t>‹#›</a:t>
            </a:fld>
            <a:endParaRPr lang="en-US"/>
          </a:p>
        </p:txBody>
      </p:sp>
    </p:spTree>
    <p:extLst>
      <p:ext uri="{BB962C8B-B14F-4D97-AF65-F5344CB8AC3E}">
        <p14:creationId xmlns:p14="http://schemas.microsoft.com/office/powerpoint/2010/main" val="4672591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FE76A9-54C9-4488-9D4E-7A147FA63D4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67AC04C-743C-4B07-9C65-32E186BD69B5}"/>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171E58F-B7C6-447E-98A6-AFE9A1A49853}"/>
              </a:ext>
            </a:extLst>
          </p:cNvPr>
          <p:cNvSpPr>
            <a:spLocks noGrp="1"/>
          </p:cNvSpPr>
          <p:nvPr>
            <p:ph type="dt" sz="half" idx="10"/>
          </p:nvPr>
        </p:nvSpPr>
        <p:spPr/>
        <p:txBody>
          <a:bodyPr/>
          <a:lstStyle/>
          <a:p>
            <a:fld id="{1593D36A-4129-4868-A654-22E0AC15B4DF}" type="datetimeFigureOut">
              <a:rPr lang="en-US" smtClean="0"/>
              <a:t>1/6/2026</a:t>
            </a:fld>
            <a:endParaRPr lang="en-US"/>
          </a:p>
        </p:txBody>
      </p:sp>
      <p:sp>
        <p:nvSpPr>
          <p:cNvPr id="5" name="Footer Placeholder 4">
            <a:extLst>
              <a:ext uri="{FF2B5EF4-FFF2-40B4-BE49-F238E27FC236}">
                <a16:creationId xmlns:a16="http://schemas.microsoft.com/office/drawing/2014/main" id="{DD98E662-7B23-42F3-B55E-98095C9E4BE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3D8C440-CB0A-4340-943D-45C7BFE93E0C}"/>
              </a:ext>
            </a:extLst>
          </p:cNvPr>
          <p:cNvSpPr>
            <a:spLocks noGrp="1"/>
          </p:cNvSpPr>
          <p:nvPr>
            <p:ph type="sldNum" sz="quarter" idx="12"/>
          </p:nvPr>
        </p:nvSpPr>
        <p:spPr/>
        <p:txBody>
          <a:bodyPr/>
          <a:lstStyle/>
          <a:p>
            <a:fld id="{A3FFBE46-489F-4DCD-95CA-086B72C588F4}" type="slidenum">
              <a:rPr lang="en-US" smtClean="0"/>
              <a:t>‹#›</a:t>
            </a:fld>
            <a:endParaRPr lang="en-US"/>
          </a:p>
        </p:txBody>
      </p:sp>
    </p:spTree>
    <p:extLst>
      <p:ext uri="{BB962C8B-B14F-4D97-AF65-F5344CB8AC3E}">
        <p14:creationId xmlns:p14="http://schemas.microsoft.com/office/powerpoint/2010/main" val="1272726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5CC41B-902E-4644-905C-0D03C3D072A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82A9DD7-CDC0-4298-A435-B7991E2754D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9D329E53-A4E4-4633-BA77-3209159FC2F0}"/>
              </a:ext>
            </a:extLst>
          </p:cNvPr>
          <p:cNvSpPr>
            <a:spLocks noGrp="1"/>
          </p:cNvSpPr>
          <p:nvPr>
            <p:ph type="dt" sz="half" idx="10"/>
          </p:nvPr>
        </p:nvSpPr>
        <p:spPr/>
        <p:txBody>
          <a:bodyPr/>
          <a:lstStyle/>
          <a:p>
            <a:fld id="{1593D36A-4129-4868-A654-22E0AC15B4DF}" type="datetimeFigureOut">
              <a:rPr lang="en-US" smtClean="0"/>
              <a:t>1/6/2026</a:t>
            </a:fld>
            <a:endParaRPr lang="en-US"/>
          </a:p>
        </p:txBody>
      </p:sp>
      <p:sp>
        <p:nvSpPr>
          <p:cNvPr id="5" name="Footer Placeholder 4">
            <a:extLst>
              <a:ext uri="{FF2B5EF4-FFF2-40B4-BE49-F238E27FC236}">
                <a16:creationId xmlns:a16="http://schemas.microsoft.com/office/drawing/2014/main" id="{75886A2D-16C2-439F-9120-DEB0CC08858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FE64366-2E6B-4253-8C56-84F76D4D63FC}"/>
              </a:ext>
            </a:extLst>
          </p:cNvPr>
          <p:cNvSpPr>
            <a:spLocks noGrp="1"/>
          </p:cNvSpPr>
          <p:nvPr>
            <p:ph type="sldNum" sz="quarter" idx="12"/>
          </p:nvPr>
        </p:nvSpPr>
        <p:spPr/>
        <p:txBody>
          <a:bodyPr/>
          <a:lstStyle/>
          <a:p>
            <a:fld id="{A3FFBE46-489F-4DCD-95CA-086B72C588F4}" type="slidenum">
              <a:rPr lang="en-US" smtClean="0"/>
              <a:t>‹#›</a:t>
            </a:fld>
            <a:endParaRPr lang="en-US"/>
          </a:p>
        </p:txBody>
      </p:sp>
    </p:spTree>
    <p:extLst>
      <p:ext uri="{BB962C8B-B14F-4D97-AF65-F5344CB8AC3E}">
        <p14:creationId xmlns:p14="http://schemas.microsoft.com/office/powerpoint/2010/main" val="10628035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FF87B1-3DA5-408F-A266-C776F1AAAB8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6237050-A1DE-4805-B79A-58397F5B00FC}"/>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B07B4EC-4D51-465A-9EA9-13FDFCBAF838}"/>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F4A1323-4C1C-4273-AE7B-0F2CEAFCA1E3}"/>
              </a:ext>
            </a:extLst>
          </p:cNvPr>
          <p:cNvSpPr>
            <a:spLocks noGrp="1"/>
          </p:cNvSpPr>
          <p:nvPr>
            <p:ph type="dt" sz="half" idx="10"/>
          </p:nvPr>
        </p:nvSpPr>
        <p:spPr/>
        <p:txBody>
          <a:bodyPr/>
          <a:lstStyle/>
          <a:p>
            <a:fld id="{1593D36A-4129-4868-A654-22E0AC15B4DF}" type="datetimeFigureOut">
              <a:rPr lang="en-US" smtClean="0"/>
              <a:t>1/6/2026</a:t>
            </a:fld>
            <a:endParaRPr lang="en-US"/>
          </a:p>
        </p:txBody>
      </p:sp>
      <p:sp>
        <p:nvSpPr>
          <p:cNvPr id="6" name="Footer Placeholder 5">
            <a:extLst>
              <a:ext uri="{FF2B5EF4-FFF2-40B4-BE49-F238E27FC236}">
                <a16:creationId xmlns:a16="http://schemas.microsoft.com/office/drawing/2014/main" id="{A2453CBC-2AF5-4885-9739-BD6FD09D6AB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6A99CED-E3CC-4B9A-8A36-D027D97C718B}"/>
              </a:ext>
            </a:extLst>
          </p:cNvPr>
          <p:cNvSpPr>
            <a:spLocks noGrp="1"/>
          </p:cNvSpPr>
          <p:nvPr>
            <p:ph type="sldNum" sz="quarter" idx="12"/>
          </p:nvPr>
        </p:nvSpPr>
        <p:spPr/>
        <p:txBody>
          <a:bodyPr/>
          <a:lstStyle/>
          <a:p>
            <a:fld id="{A3FFBE46-489F-4DCD-95CA-086B72C588F4}" type="slidenum">
              <a:rPr lang="en-US" smtClean="0"/>
              <a:t>‹#›</a:t>
            </a:fld>
            <a:endParaRPr lang="en-US"/>
          </a:p>
        </p:txBody>
      </p:sp>
    </p:spTree>
    <p:extLst>
      <p:ext uri="{BB962C8B-B14F-4D97-AF65-F5344CB8AC3E}">
        <p14:creationId xmlns:p14="http://schemas.microsoft.com/office/powerpoint/2010/main" val="3091713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D88CD3-EF27-4782-AA7A-3749143832A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1C1D37C-AA1D-47C0-B4DE-B5DCD389BBB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6D5106E7-BFE5-4427-9479-F273A5814C15}"/>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C52E352-64FE-474B-88C1-1A2B4FC0A56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0D1EF552-D660-4FAF-A4D6-82343EB47934}"/>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0E9D337-E5A3-47FB-BB05-194A4E3DD278}"/>
              </a:ext>
            </a:extLst>
          </p:cNvPr>
          <p:cNvSpPr>
            <a:spLocks noGrp="1"/>
          </p:cNvSpPr>
          <p:nvPr>
            <p:ph type="dt" sz="half" idx="10"/>
          </p:nvPr>
        </p:nvSpPr>
        <p:spPr/>
        <p:txBody>
          <a:bodyPr/>
          <a:lstStyle/>
          <a:p>
            <a:fld id="{1593D36A-4129-4868-A654-22E0AC15B4DF}" type="datetimeFigureOut">
              <a:rPr lang="en-US" smtClean="0"/>
              <a:t>1/6/2026</a:t>
            </a:fld>
            <a:endParaRPr lang="en-US"/>
          </a:p>
        </p:txBody>
      </p:sp>
      <p:sp>
        <p:nvSpPr>
          <p:cNvPr id="8" name="Footer Placeholder 7">
            <a:extLst>
              <a:ext uri="{FF2B5EF4-FFF2-40B4-BE49-F238E27FC236}">
                <a16:creationId xmlns:a16="http://schemas.microsoft.com/office/drawing/2014/main" id="{9B40CBE1-D6BE-43DF-9874-3934132F553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B7AB2A7-765A-4E19-937A-175ACC75BBD5}"/>
              </a:ext>
            </a:extLst>
          </p:cNvPr>
          <p:cNvSpPr>
            <a:spLocks noGrp="1"/>
          </p:cNvSpPr>
          <p:nvPr>
            <p:ph type="sldNum" sz="quarter" idx="12"/>
          </p:nvPr>
        </p:nvSpPr>
        <p:spPr/>
        <p:txBody>
          <a:bodyPr/>
          <a:lstStyle/>
          <a:p>
            <a:fld id="{A3FFBE46-489F-4DCD-95CA-086B72C588F4}" type="slidenum">
              <a:rPr lang="en-US" smtClean="0"/>
              <a:t>‹#›</a:t>
            </a:fld>
            <a:endParaRPr lang="en-US"/>
          </a:p>
        </p:txBody>
      </p:sp>
    </p:spTree>
    <p:extLst>
      <p:ext uri="{BB962C8B-B14F-4D97-AF65-F5344CB8AC3E}">
        <p14:creationId xmlns:p14="http://schemas.microsoft.com/office/powerpoint/2010/main" val="6675604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9CAB5D-FE33-4861-B379-8A848E675CB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39FCBBA-F703-4DDB-9696-D72BCE09D47F}"/>
              </a:ext>
            </a:extLst>
          </p:cNvPr>
          <p:cNvSpPr>
            <a:spLocks noGrp="1"/>
          </p:cNvSpPr>
          <p:nvPr>
            <p:ph type="dt" sz="half" idx="10"/>
          </p:nvPr>
        </p:nvSpPr>
        <p:spPr/>
        <p:txBody>
          <a:bodyPr/>
          <a:lstStyle/>
          <a:p>
            <a:fld id="{1593D36A-4129-4868-A654-22E0AC15B4DF}" type="datetimeFigureOut">
              <a:rPr lang="en-US" smtClean="0"/>
              <a:t>1/6/2026</a:t>
            </a:fld>
            <a:endParaRPr lang="en-US"/>
          </a:p>
        </p:txBody>
      </p:sp>
      <p:sp>
        <p:nvSpPr>
          <p:cNvPr id="4" name="Footer Placeholder 3">
            <a:extLst>
              <a:ext uri="{FF2B5EF4-FFF2-40B4-BE49-F238E27FC236}">
                <a16:creationId xmlns:a16="http://schemas.microsoft.com/office/drawing/2014/main" id="{4CA833E2-39B3-4536-BB66-F136479E3FD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A6852AE-88C9-41A7-B4B0-C2D6619C3093}"/>
              </a:ext>
            </a:extLst>
          </p:cNvPr>
          <p:cNvSpPr>
            <a:spLocks noGrp="1"/>
          </p:cNvSpPr>
          <p:nvPr>
            <p:ph type="sldNum" sz="quarter" idx="12"/>
          </p:nvPr>
        </p:nvSpPr>
        <p:spPr/>
        <p:txBody>
          <a:bodyPr/>
          <a:lstStyle/>
          <a:p>
            <a:fld id="{A3FFBE46-489F-4DCD-95CA-086B72C588F4}" type="slidenum">
              <a:rPr lang="en-US" smtClean="0"/>
              <a:t>‹#›</a:t>
            </a:fld>
            <a:endParaRPr lang="en-US"/>
          </a:p>
        </p:txBody>
      </p:sp>
    </p:spTree>
    <p:extLst>
      <p:ext uri="{BB962C8B-B14F-4D97-AF65-F5344CB8AC3E}">
        <p14:creationId xmlns:p14="http://schemas.microsoft.com/office/powerpoint/2010/main" val="32154103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11CC0CE-0757-4ADE-92D5-01BAFFF0DC9D}"/>
              </a:ext>
            </a:extLst>
          </p:cNvPr>
          <p:cNvSpPr>
            <a:spLocks noGrp="1"/>
          </p:cNvSpPr>
          <p:nvPr>
            <p:ph type="dt" sz="half" idx="10"/>
          </p:nvPr>
        </p:nvSpPr>
        <p:spPr/>
        <p:txBody>
          <a:bodyPr/>
          <a:lstStyle/>
          <a:p>
            <a:fld id="{1593D36A-4129-4868-A654-22E0AC15B4DF}" type="datetimeFigureOut">
              <a:rPr lang="en-US" smtClean="0"/>
              <a:t>1/6/2026</a:t>
            </a:fld>
            <a:endParaRPr lang="en-US"/>
          </a:p>
        </p:txBody>
      </p:sp>
      <p:sp>
        <p:nvSpPr>
          <p:cNvPr id="3" name="Footer Placeholder 2">
            <a:extLst>
              <a:ext uri="{FF2B5EF4-FFF2-40B4-BE49-F238E27FC236}">
                <a16:creationId xmlns:a16="http://schemas.microsoft.com/office/drawing/2014/main" id="{388F6219-283C-4D95-BBDC-ED89359D757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D6BA51E-48BC-4F0A-8482-F75839486E3A}"/>
              </a:ext>
            </a:extLst>
          </p:cNvPr>
          <p:cNvSpPr>
            <a:spLocks noGrp="1"/>
          </p:cNvSpPr>
          <p:nvPr>
            <p:ph type="sldNum" sz="quarter" idx="12"/>
          </p:nvPr>
        </p:nvSpPr>
        <p:spPr/>
        <p:txBody>
          <a:bodyPr/>
          <a:lstStyle/>
          <a:p>
            <a:fld id="{A3FFBE46-489F-4DCD-95CA-086B72C588F4}" type="slidenum">
              <a:rPr lang="en-US" smtClean="0"/>
              <a:t>‹#›</a:t>
            </a:fld>
            <a:endParaRPr lang="en-US"/>
          </a:p>
        </p:txBody>
      </p:sp>
    </p:spTree>
    <p:extLst>
      <p:ext uri="{BB962C8B-B14F-4D97-AF65-F5344CB8AC3E}">
        <p14:creationId xmlns:p14="http://schemas.microsoft.com/office/powerpoint/2010/main" val="41434871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041811-ECAE-40EE-AD6E-40AE2672F19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79D936B-927A-4237-AC44-A63D0B1B445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5EC2B17-998E-4050-A42F-FB49BC64ADC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1552C428-BF9C-49C9-9218-0DBF16864603}"/>
              </a:ext>
            </a:extLst>
          </p:cNvPr>
          <p:cNvSpPr>
            <a:spLocks noGrp="1"/>
          </p:cNvSpPr>
          <p:nvPr>
            <p:ph type="dt" sz="half" idx="10"/>
          </p:nvPr>
        </p:nvSpPr>
        <p:spPr/>
        <p:txBody>
          <a:bodyPr/>
          <a:lstStyle/>
          <a:p>
            <a:fld id="{1593D36A-4129-4868-A654-22E0AC15B4DF}" type="datetimeFigureOut">
              <a:rPr lang="en-US" smtClean="0"/>
              <a:t>1/6/2026</a:t>
            </a:fld>
            <a:endParaRPr lang="en-US"/>
          </a:p>
        </p:txBody>
      </p:sp>
      <p:sp>
        <p:nvSpPr>
          <p:cNvPr id="6" name="Footer Placeholder 5">
            <a:extLst>
              <a:ext uri="{FF2B5EF4-FFF2-40B4-BE49-F238E27FC236}">
                <a16:creationId xmlns:a16="http://schemas.microsoft.com/office/drawing/2014/main" id="{6ED68147-D486-4004-B676-0973304A3A5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5FBCF51-AFC4-49CF-846C-9925DBCF5FEF}"/>
              </a:ext>
            </a:extLst>
          </p:cNvPr>
          <p:cNvSpPr>
            <a:spLocks noGrp="1"/>
          </p:cNvSpPr>
          <p:nvPr>
            <p:ph type="sldNum" sz="quarter" idx="12"/>
          </p:nvPr>
        </p:nvSpPr>
        <p:spPr/>
        <p:txBody>
          <a:bodyPr/>
          <a:lstStyle/>
          <a:p>
            <a:fld id="{A3FFBE46-489F-4DCD-95CA-086B72C588F4}" type="slidenum">
              <a:rPr lang="en-US" smtClean="0"/>
              <a:t>‹#›</a:t>
            </a:fld>
            <a:endParaRPr lang="en-US"/>
          </a:p>
        </p:txBody>
      </p:sp>
    </p:spTree>
    <p:extLst>
      <p:ext uri="{BB962C8B-B14F-4D97-AF65-F5344CB8AC3E}">
        <p14:creationId xmlns:p14="http://schemas.microsoft.com/office/powerpoint/2010/main" val="36558978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49793D-C0CB-4C70-B3BC-40241DABC12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7CE389E-9505-42B1-8CA3-4A337BFFF48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9BA129E-BB70-4465-8558-2753CA7EF5F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687B5D34-FAD3-4FE8-B33D-0B0ECA3E19E4}"/>
              </a:ext>
            </a:extLst>
          </p:cNvPr>
          <p:cNvSpPr>
            <a:spLocks noGrp="1"/>
          </p:cNvSpPr>
          <p:nvPr>
            <p:ph type="dt" sz="half" idx="10"/>
          </p:nvPr>
        </p:nvSpPr>
        <p:spPr/>
        <p:txBody>
          <a:bodyPr/>
          <a:lstStyle/>
          <a:p>
            <a:fld id="{1593D36A-4129-4868-A654-22E0AC15B4DF}" type="datetimeFigureOut">
              <a:rPr lang="en-US" smtClean="0"/>
              <a:t>1/6/2026</a:t>
            </a:fld>
            <a:endParaRPr lang="en-US"/>
          </a:p>
        </p:txBody>
      </p:sp>
      <p:sp>
        <p:nvSpPr>
          <p:cNvPr id="6" name="Footer Placeholder 5">
            <a:extLst>
              <a:ext uri="{FF2B5EF4-FFF2-40B4-BE49-F238E27FC236}">
                <a16:creationId xmlns:a16="http://schemas.microsoft.com/office/drawing/2014/main" id="{7E11FD84-E0AA-43C5-A37F-702AB1E87BB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4D2FB1B-F2B1-4467-B325-032DD4D2A9BA}"/>
              </a:ext>
            </a:extLst>
          </p:cNvPr>
          <p:cNvSpPr>
            <a:spLocks noGrp="1"/>
          </p:cNvSpPr>
          <p:nvPr>
            <p:ph type="sldNum" sz="quarter" idx="12"/>
          </p:nvPr>
        </p:nvSpPr>
        <p:spPr/>
        <p:txBody>
          <a:bodyPr/>
          <a:lstStyle/>
          <a:p>
            <a:fld id="{A3FFBE46-489F-4DCD-95CA-086B72C588F4}" type="slidenum">
              <a:rPr lang="en-US" smtClean="0"/>
              <a:t>‹#›</a:t>
            </a:fld>
            <a:endParaRPr lang="en-US"/>
          </a:p>
        </p:txBody>
      </p:sp>
    </p:spTree>
    <p:extLst>
      <p:ext uri="{BB962C8B-B14F-4D97-AF65-F5344CB8AC3E}">
        <p14:creationId xmlns:p14="http://schemas.microsoft.com/office/powerpoint/2010/main" val="37620595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00EF16-81F4-4A45-AFF7-20CF9A8DA0F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41A5CE4-46F9-40D0-A49B-0623E799D9FE}"/>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049F1CF-387B-48DB-9646-9A95A93449C2}"/>
              </a:ext>
            </a:extLst>
          </p:cNvPr>
          <p:cNvSpPr>
            <a:spLocks noGrp="1"/>
          </p:cNvSpPr>
          <p:nvPr>
            <p:ph type="dt" sz="half" idx="10"/>
          </p:nvPr>
        </p:nvSpPr>
        <p:spPr/>
        <p:txBody>
          <a:bodyPr/>
          <a:lstStyle/>
          <a:p>
            <a:fld id="{1593D36A-4129-4868-A654-22E0AC15B4DF}" type="datetimeFigureOut">
              <a:rPr lang="en-US" smtClean="0"/>
              <a:t>1/6/2026</a:t>
            </a:fld>
            <a:endParaRPr lang="en-US"/>
          </a:p>
        </p:txBody>
      </p:sp>
      <p:sp>
        <p:nvSpPr>
          <p:cNvPr id="5" name="Footer Placeholder 4">
            <a:extLst>
              <a:ext uri="{FF2B5EF4-FFF2-40B4-BE49-F238E27FC236}">
                <a16:creationId xmlns:a16="http://schemas.microsoft.com/office/drawing/2014/main" id="{4597396A-50DB-4715-AB2E-1E05DC1887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BC25442-2C3D-443F-846A-BC7C4F52BC89}"/>
              </a:ext>
            </a:extLst>
          </p:cNvPr>
          <p:cNvSpPr>
            <a:spLocks noGrp="1"/>
          </p:cNvSpPr>
          <p:nvPr>
            <p:ph type="sldNum" sz="quarter" idx="12"/>
          </p:nvPr>
        </p:nvSpPr>
        <p:spPr/>
        <p:txBody>
          <a:bodyPr/>
          <a:lstStyle/>
          <a:p>
            <a:fld id="{A3FFBE46-489F-4DCD-95CA-086B72C588F4}" type="slidenum">
              <a:rPr lang="en-US" smtClean="0"/>
              <a:t>‹#›</a:t>
            </a:fld>
            <a:endParaRPr lang="en-US"/>
          </a:p>
        </p:txBody>
      </p:sp>
    </p:spTree>
    <p:extLst>
      <p:ext uri="{BB962C8B-B14F-4D97-AF65-F5344CB8AC3E}">
        <p14:creationId xmlns:p14="http://schemas.microsoft.com/office/powerpoint/2010/main" val="34689127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119CCD1-B921-4038-9FD3-622F5E36C95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C99AA10-56CA-4867-A0C7-E1F1F4CC4D14}"/>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E8BD215-DC66-4A96-A261-382E9993F49B}"/>
              </a:ext>
            </a:extLst>
          </p:cNvPr>
          <p:cNvSpPr>
            <a:spLocks noGrp="1"/>
          </p:cNvSpPr>
          <p:nvPr>
            <p:ph type="dt" sz="half" idx="10"/>
          </p:nvPr>
        </p:nvSpPr>
        <p:spPr/>
        <p:txBody>
          <a:bodyPr/>
          <a:lstStyle/>
          <a:p>
            <a:fld id="{1593D36A-4129-4868-A654-22E0AC15B4DF}" type="datetimeFigureOut">
              <a:rPr lang="en-US" smtClean="0"/>
              <a:t>1/6/2026</a:t>
            </a:fld>
            <a:endParaRPr lang="en-US"/>
          </a:p>
        </p:txBody>
      </p:sp>
      <p:sp>
        <p:nvSpPr>
          <p:cNvPr id="5" name="Footer Placeholder 4">
            <a:extLst>
              <a:ext uri="{FF2B5EF4-FFF2-40B4-BE49-F238E27FC236}">
                <a16:creationId xmlns:a16="http://schemas.microsoft.com/office/drawing/2014/main" id="{271BC841-103E-41CF-B2B9-CF069B5E2EB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561F941-EFE5-4989-A665-A135073CA9AC}"/>
              </a:ext>
            </a:extLst>
          </p:cNvPr>
          <p:cNvSpPr>
            <a:spLocks noGrp="1"/>
          </p:cNvSpPr>
          <p:nvPr>
            <p:ph type="sldNum" sz="quarter" idx="12"/>
          </p:nvPr>
        </p:nvSpPr>
        <p:spPr/>
        <p:txBody>
          <a:bodyPr/>
          <a:lstStyle/>
          <a:p>
            <a:fld id="{A3FFBE46-489F-4DCD-95CA-086B72C588F4}" type="slidenum">
              <a:rPr lang="en-US" smtClean="0"/>
              <a:t>‹#›</a:t>
            </a:fld>
            <a:endParaRPr lang="en-US"/>
          </a:p>
        </p:txBody>
      </p:sp>
    </p:spTree>
    <p:extLst>
      <p:ext uri="{BB962C8B-B14F-4D97-AF65-F5344CB8AC3E}">
        <p14:creationId xmlns:p14="http://schemas.microsoft.com/office/powerpoint/2010/main" val="1765798630"/>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06CDEA5-CD02-4C6C-BDB8-9A181AFEDE3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655A557-6E36-44ED-8F42-AB1E485FB7D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5F80FA8-87E4-45CE-8551-7B893818625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593D36A-4129-4868-A654-22E0AC15B4DF}" type="datetimeFigureOut">
              <a:rPr lang="en-US" smtClean="0"/>
              <a:t>1/6/2026</a:t>
            </a:fld>
            <a:endParaRPr lang="en-US"/>
          </a:p>
        </p:txBody>
      </p:sp>
      <p:sp>
        <p:nvSpPr>
          <p:cNvPr id="5" name="Footer Placeholder 4">
            <a:extLst>
              <a:ext uri="{FF2B5EF4-FFF2-40B4-BE49-F238E27FC236}">
                <a16:creationId xmlns:a16="http://schemas.microsoft.com/office/drawing/2014/main" id="{DD85820D-DB16-4293-A4A1-7FF49C09D97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F733FEA-12E4-43DE-AC19-663D6EC263E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3FFBE46-489F-4DCD-95CA-086B72C588F4}" type="slidenum">
              <a:rPr lang="en-US" smtClean="0"/>
              <a:t>‹#›</a:t>
            </a:fld>
            <a:endParaRPr lang="en-US"/>
          </a:p>
        </p:txBody>
      </p:sp>
    </p:spTree>
    <p:extLst>
      <p:ext uri="{BB962C8B-B14F-4D97-AF65-F5344CB8AC3E}">
        <p14:creationId xmlns:p14="http://schemas.microsoft.com/office/powerpoint/2010/main" val="83297950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0058400" cy="274320"/>
          </a:xfrm>
          <a:prstGeom prst="rect">
            <a:avLst/>
          </a:prstGeom>
          <a:noFill/>
        </p:spPr>
        <p:txBody>
          <a:bodyPr wrap="square" lIns="18288" rIns="18288" tIns="18288" bIns="18288">
            <a:spAutoFit/>
          </a:bodyPr>
          <a:lstStyle/>
          <a:p>
            <a:pPr>
              <a:spcAft>
                <a:spcPts val="1000"/>
              </a:spcAft>
              <a:defRPr sz="1100" b="0">
                <a:solidFill>
                  <a:srgbClr val="536777"/>
                </a:solidFill>
                <a:latin typeface="DejaVu Sans"/>
              </a:defRPr>
            </a:pPr>
            <a:r>
              <a:t>IE313 • NHÓM 10 • AIRBNB BANGKOK</a:t>
            </a:r>
          </a:p>
        </p:txBody>
      </p:sp>
      <p:sp>
        <p:nvSpPr>
          <p:cNvPr id="4" name="TextBox 3"/>
          <p:cNvSpPr txBox="1"/>
          <p:nvPr/>
        </p:nvSpPr>
        <p:spPr>
          <a:xfrm>
            <a:off x="502920" y="768096"/>
            <a:ext cx="11155680" cy="731520"/>
          </a:xfrm>
          <a:prstGeom prst="rect">
            <a:avLst/>
          </a:prstGeom>
          <a:noFill/>
        </p:spPr>
        <p:txBody>
          <a:bodyPr wrap="square" lIns="18288" rIns="18288" tIns="18288" bIns="18288">
            <a:spAutoFit/>
          </a:bodyPr>
          <a:lstStyle/>
          <a:p>
            <a:pPr>
              <a:spcAft>
                <a:spcPts val="1000"/>
              </a:spcAft>
              <a:defRPr sz="2900" b="1">
                <a:solidFill>
                  <a:srgbClr val="15344C"/>
                </a:solidFill>
                <a:latin typeface="DejaVu Sans"/>
              </a:defRPr>
            </a:pPr>
            <a:r>
              <a:t>Phân tích và trực quan hóa giá thuê Airbnb</a:t>
            </a:r>
          </a:p>
        </p:txBody>
      </p:sp>
      <p:sp>
        <p:nvSpPr>
          <p:cNvPr id="5" name="Rectangle 4"/>
          <p:cNvSpPr/>
          <p:nvPr/>
        </p:nvSpPr>
        <p:spPr>
          <a:xfrm>
            <a:off x="502920" y="6291072"/>
            <a:ext cx="11155680" cy="10972"/>
          </a:xfrm>
          <a:prstGeom prst="rect">
            <a:avLst/>
          </a:prstGeom>
          <a:solidFill>
            <a:srgbClr val="CFDB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400800"/>
            <a:ext cx="10607040" cy="292608"/>
          </a:xfrm>
          <a:prstGeom prst="rect">
            <a:avLst/>
          </a:prstGeom>
          <a:noFill/>
        </p:spPr>
        <p:txBody>
          <a:bodyPr wrap="square" lIns="18288" rIns="18288" tIns="18288" bIns="18288">
            <a:spAutoFit/>
          </a:bodyPr>
          <a:lstStyle/>
          <a:p>
            <a:pPr>
              <a:spcAft>
                <a:spcPts val="1000"/>
              </a:spcAft>
              <a:defRPr sz="900" b="0">
                <a:solidFill>
                  <a:srgbClr val="536777"/>
                </a:solidFill>
                <a:latin typeface="DejaVu Sans"/>
              </a:defRPr>
            </a:pPr>
            <a:r>
              <a:t>Inside Airbnb • Bangkok 29/06/2026 • CC BY 4.0 • Bản trình bày 12/10/2026</a:t>
            </a:r>
          </a:p>
        </p:txBody>
      </p:sp>
      <p:sp>
        <p:nvSpPr>
          <p:cNvPr id="7" name="TextBox 6"/>
          <p:cNvSpPr txBox="1"/>
          <p:nvPr/>
        </p:nvSpPr>
        <p:spPr>
          <a:xfrm>
            <a:off x="11109960" y="6400800"/>
            <a:ext cx="548640" cy="274320"/>
          </a:xfrm>
          <a:prstGeom prst="rect">
            <a:avLst/>
          </a:prstGeom>
          <a:noFill/>
        </p:spPr>
        <p:txBody>
          <a:bodyPr wrap="square" lIns="18288" rIns="18288" tIns="18288" bIns="18288">
            <a:spAutoFit/>
          </a:bodyPr>
          <a:lstStyle/>
          <a:p>
            <a:pPr>
              <a:spcAft>
                <a:spcPts val="1000"/>
              </a:spcAft>
              <a:defRPr sz="1000" b="1">
                <a:solidFill>
                  <a:srgbClr val="087E8B"/>
                </a:solidFill>
                <a:latin typeface="DejaVu Sans"/>
              </a:defRPr>
            </a:pPr>
            <a:r>
              <a:t>01</a:t>
            </a:r>
          </a:p>
        </p:txBody>
      </p:sp>
      <p:sp>
        <p:nvSpPr>
          <p:cNvPr id="8" name="TextBox 7"/>
          <p:cNvSpPr txBox="1"/>
          <p:nvPr/>
        </p:nvSpPr>
        <p:spPr>
          <a:xfrm>
            <a:off x="530352" y="1481328"/>
            <a:ext cx="10972800" cy="731520"/>
          </a:xfrm>
          <a:prstGeom prst="rect">
            <a:avLst/>
          </a:prstGeom>
          <a:noFill/>
        </p:spPr>
        <p:txBody>
          <a:bodyPr wrap="square" lIns="18288" rIns="18288" tIns="18288" bIns="18288">
            <a:spAutoFit/>
          </a:bodyPr>
          <a:lstStyle/>
          <a:p>
            <a:pPr>
              <a:spcAft>
                <a:spcPts val="1000"/>
              </a:spcAft>
              <a:defRPr sz="3100" b="1">
                <a:solidFill>
                  <a:srgbClr val="087E8B"/>
                </a:solidFill>
                <a:latin typeface="DejaVu Sans"/>
              </a:defRPr>
            </a:pPr>
            <a:r>
              <a:t>Bangkok và các yếu tố liên quan</a:t>
            </a:r>
          </a:p>
        </p:txBody>
      </p:sp>
      <p:sp>
        <p:nvSpPr>
          <p:cNvPr id="9" name="Rectangle 8"/>
          <p:cNvSpPr/>
          <p:nvPr/>
        </p:nvSpPr>
        <p:spPr>
          <a:xfrm>
            <a:off x="530352" y="2523744"/>
            <a:ext cx="5440680" cy="1645920"/>
          </a:xfrm>
          <a:prstGeom prst="rect">
            <a:avLst/>
          </a:prstGeom>
          <a:solidFill>
            <a:srgbClr val="EE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94944" y="2642615"/>
            <a:ext cx="5111496" cy="384048"/>
          </a:xfrm>
          <a:prstGeom prst="rect">
            <a:avLst/>
          </a:prstGeom>
          <a:noFill/>
        </p:spPr>
        <p:txBody>
          <a:bodyPr wrap="square" lIns="18288" rIns="18288" tIns="18288" bIns="18288">
            <a:spAutoFit/>
          </a:bodyPr>
          <a:lstStyle/>
          <a:p>
            <a:pPr>
              <a:spcAft>
                <a:spcPts val="1000"/>
              </a:spcAft>
              <a:defRPr sz="2300" b="1">
                <a:solidFill>
                  <a:srgbClr val="087E8B"/>
                </a:solidFill>
                <a:latin typeface="DejaVu Sans"/>
              </a:defRPr>
            </a:pPr>
            <a:r>
              <a:t>Phạm Quốc Thắng • 25410304</a:t>
            </a:r>
          </a:p>
        </p:txBody>
      </p:sp>
      <p:sp>
        <p:nvSpPr>
          <p:cNvPr id="11" name="TextBox 10"/>
          <p:cNvSpPr txBox="1"/>
          <p:nvPr/>
        </p:nvSpPr>
        <p:spPr>
          <a:xfrm>
            <a:off x="694944" y="3163824"/>
            <a:ext cx="5111496" cy="932688"/>
          </a:xfrm>
          <a:prstGeom prst="rect">
            <a:avLst/>
          </a:prstGeom>
          <a:noFill/>
        </p:spPr>
        <p:txBody>
          <a:bodyPr wrap="square" lIns="18288" rIns="18288" tIns="18288" bIns="18288">
            <a:spAutoFit/>
          </a:bodyPr>
          <a:lstStyle/>
          <a:p>
            <a:pPr>
              <a:spcAft>
                <a:spcPts val="1000"/>
              </a:spcAft>
              <a:defRPr sz="1700" b="0">
                <a:solidFill>
                  <a:srgbClr val="15344C"/>
                </a:solidFill>
                <a:latin typeface="DejaVu Sans"/>
              </a:defRPr>
            </a:pPr>
            <a:r>
              <a:t>RQ, EDA, biểu đồ, diễn giải</a:t>
            </a:r>
          </a:p>
          <a:p>
            <a:pPr>
              <a:spcAft>
                <a:spcPts val="1000"/>
              </a:spcAft>
              <a:defRPr sz="1700" b="0">
                <a:solidFill>
                  <a:srgbClr val="15344C"/>
                </a:solidFill>
                <a:latin typeface="DejaVu Sans"/>
              </a:defRPr>
            </a:pPr>
            <a:r>
              <a:t>Báo cáo và trình bày</a:t>
            </a:r>
          </a:p>
        </p:txBody>
      </p:sp>
      <p:sp>
        <p:nvSpPr>
          <p:cNvPr id="12" name="Rectangle 11"/>
          <p:cNvSpPr/>
          <p:nvPr/>
        </p:nvSpPr>
        <p:spPr>
          <a:xfrm>
            <a:off x="6217920" y="2523744"/>
            <a:ext cx="5440680" cy="1645920"/>
          </a:xfrm>
          <a:prstGeom prst="rect">
            <a:avLst/>
          </a:prstGeom>
          <a:solidFill>
            <a:srgbClr val="EE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82512" y="2642615"/>
            <a:ext cx="5111496" cy="384048"/>
          </a:xfrm>
          <a:prstGeom prst="rect">
            <a:avLst/>
          </a:prstGeom>
          <a:noFill/>
        </p:spPr>
        <p:txBody>
          <a:bodyPr wrap="square" lIns="18288" rIns="18288" tIns="18288" bIns="18288">
            <a:spAutoFit/>
          </a:bodyPr>
          <a:lstStyle/>
          <a:p>
            <a:pPr>
              <a:spcAft>
                <a:spcPts val="1000"/>
              </a:spcAft>
              <a:defRPr sz="2300" b="1">
                <a:solidFill>
                  <a:srgbClr val="087E8B"/>
                </a:solidFill>
                <a:latin typeface="DejaVu Sans"/>
              </a:defRPr>
            </a:pPr>
            <a:r>
              <a:t>Lê Minh Thiện • 25410313</a:t>
            </a:r>
          </a:p>
        </p:txBody>
      </p:sp>
      <p:sp>
        <p:nvSpPr>
          <p:cNvPr id="14" name="TextBox 13"/>
          <p:cNvSpPr txBox="1"/>
          <p:nvPr/>
        </p:nvSpPr>
        <p:spPr>
          <a:xfrm>
            <a:off x="6382512" y="3163824"/>
            <a:ext cx="5111496" cy="932688"/>
          </a:xfrm>
          <a:prstGeom prst="rect">
            <a:avLst/>
          </a:prstGeom>
          <a:noFill/>
        </p:spPr>
        <p:txBody>
          <a:bodyPr wrap="square" lIns="18288" rIns="18288" tIns="18288" bIns="18288">
            <a:spAutoFit/>
          </a:bodyPr>
          <a:lstStyle/>
          <a:p>
            <a:pPr>
              <a:spcAft>
                <a:spcPts val="1000"/>
              </a:spcAft>
              <a:defRPr sz="1700" b="0">
                <a:solidFill>
                  <a:srgbClr val="15344C"/>
                </a:solidFill>
                <a:latin typeface="DejaVu Sans"/>
              </a:defRPr>
            </a:pPr>
            <a:r>
              <a:t>Kiểm toán, làm sạch, thống kê</a:t>
            </a:r>
          </a:p>
          <a:p>
            <a:pPr>
              <a:spcAft>
                <a:spcPts val="1000"/>
              </a:spcAft>
              <a:defRPr sz="1700" b="0">
                <a:solidFill>
                  <a:srgbClr val="15344C"/>
                </a:solidFill>
                <a:latin typeface="DejaVu Sans"/>
              </a:defRPr>
            </a:pPr>
            <a:r>
              <a:t>Train/CV và kiểm tra tái lập</a:t>
            </a:r>
          </a:p>
        </p:txBody>
      </p:sp>
      <p:sp>
        <p:nvSpPr>
          <p:cNvPr id="15" name="TextBox 14"/>
          <p:cNvSpPr txBox="1"/>
          <p:nvPr/>
        </p:nvSpPr>
        <p:spPr>
          <a:xfrm>
            <a:off x="576072" y="4599432"/>
            <a:ext cx="11064240" cy="1280160"/>
          </a:xfrm>
          <a:prstGeom prst="rect">
            <a:avLst/>
          </a:prstGeom>
          <a:noFill/>
        </p:spPr>
        <p:txBody>
          <a:bodyPr wrap="square" lIns="18288" rIns="18288" tIns="18288" bIns="18288">
            <a:spAutoFit/>
          </a:bodyPr>
          <a:lstStyle/>
          <a:p>
            <a:pPr>
              <a:spcAft>
                <a:spcPts val="1000"/>
              </a:spcAft>
              <a:defRPr sz="2000" b="0">
                <a:solidFill>
                  <a:srgbClr val="15344C"/>
                </a:solidFill>
                <a:latin typeface="DejaVu Sans"/>
              </a:defRPr>
            </a:pPr>
            <a:r>
              <a:t>Minh bạch: dữ liệu Inside Airbnb; không tham khảo dự án/code mẫu; không dùng đề tài/dữ liệu cho môn khác. Có AI hỗ trợ triển khai và rà soát; nhóm chịu trách nhiệm kiểm tra.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0058400" cy="274320"/>
          </a:xfrm>
          <a:prstGeom prst="rect">
            <a:avLst/>
          </a:prstGeom>
          <a:noFill/>
        </p:spPr>
        <p:txBody>
          <a:bodyPr wrap="square" lIns="18288" rIns="18288" tIns="18288" bIns="18288">
            <a:spAutoFit/>
          </a:bodyPr>
          <a:lstStyle/>
          <a:p>
            <a:pPr>
              <a:spcAft>
                <a:spcPts val="1000"/>
              </a:spcAft>
              <a:defRPr sz="1100" b="0">
                <a:solidFill>
                  <a:srgbClr val="536777"/>
                </a:solidFill>
                <a:latin typeface="DejaVu Sans"/>
              </a:defRPr>
            </a:pPr>
            <a:r>
              <a:t>IE313 • NHÓM 10 • AIRBNB BANGKOK</a:t>
            </a:r>
          </a:p>
        </p:txBody>
      </p:sp>
      <p:sp>
        <p:nvSpPr>
          <p:cNvPr id="4" name="TextBox 3"/>
          <p:cNvSpPr txBox="1"/>
          <p:nvPr/>
        </p:nvSpPr>
        <p:spPr>
          <a:xfrm>
            <a:off x="502920" y="768096"/>
            <a:ext cx="11155680" cy="731520"/>
          </a:xfrm>
          <a:prstGeom prst="rect">
            <a:avLst/>
          </a:prstGeom>
          <a:noFill/>
        </p:spPr>
        <p:txBody>
          <a:bodyPr wrap="square" lIns="18288" rIns="18288" tIns="18288" bIns="18288">
            <a:spAutoFit/>
          </a:bodyPr>
          <a:lstStyle/>
          <a:p>
            <a:pPr>
              <a:spcAft>
                <a:spcPts val="1000"/>
              </a:spcAft>
              <a:defRPr sz="2900" b="1">
                <a:solidFill>
                  <a:srgbClr val="15344C"/>
                </a:solidFill>
                <a:latin typeface="DejaVu Sans"/>
              </a:defRPr>
            </a:pPr>
            <a:r>
              <a:t>Bốn câu hỏi dẫn dắt phân tích</a:t>
            </a:r>
          </a:p>
        </p:txBody>
      </p:sp>
      <p:sp>
        <p:nvSpPr>
          <p:cNvPr id="5" name="Rectangle 4"/>
          <p:cNvSpPr/>
          <p:nvPr/>
        </p:nvSpPr>
        <p:spPr>
          <a:xfrm>
            <a:off x="502920" y="6291072"/>
            <a:ext cx="11155680" cy="10972"/>
          </a:xfrm>
          <a:prstGeom prst="rect">
            <a:avLst/>
          </a:prstGeom>
          <a:solidFill>
            <a:srgbClr val="CFDB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400800"/>
            <a:ext cx="10607040" cy="292608"/>
          </a:xfrm>
          <a:prstGeom prst="rect">
            <a:avLst/>
          </a:prstGeom>
          <a:noFill/>
        </p:spPr>
        <p:txBody>
          <a:bodyPr wrap="square" lIns="18288" rIns="18288" tIns="18288" bIns="18288">
            <a:spAutoFit/>
          </a:bodyPr>
          <a:lstStyle/>
          <a:p>
            <a:pPr>
              <a:spcAft>
                <a:spcPts val="1000"/>
              </a:spcAft>
              <a:defRPr sz="900" b="0">
                <a:solidFill>
                  <a:srgbClr val="536777"/>
                </a:solidFill>
                <a:latin typeface="DejaVu Sans"/>
              </a:defRPr>
            </a:pPr>
            <a:r>
              <a:t>Đối chiếu: SPECIFICATION.md • Không suy ra quan hệ nhân quả</a:t>
            </a:r>
          </a:p>
        </p:txBody>
      </p:sp>
      <p:sp>
        <p:nvSpPr>
          <p:cNvPr id="7" name="TextBox 6"/>
          <p:cNvSpPr txBox="1"/>
          <p:nvPr/>
        </p:nvSpPr>
        <p:spPr>
          <a:xfrm>
            <a:off x="11109960" y="6400800"/>
            <a:ext cx="548640" cy="274320"/>
          </a:xfrm>
          <a:prstGeom prst="rect">
            <a:avLst/>
          </a:prstGeom>
          <a:noFill/>
        </p:spPr>
        <p:txBody>
          <a:bodyPr wrap="square" lIns="18288" rIns="18288" tIns="18288" bIns="18288">
            <a:spAutoFit/>
          </a:bodyPr>
          <a:lstStyle/>
          <a:p>
            <a:pPr>
              <a:spcAft>
                <a:spcPts val="1000"/>
              </a:spcAft>
              <a:defRPr sz="1000" b="1">
                <a:solidFill>
                  <a:srgbClr val="087E8B"/>
                </a:solidFill>
                <a:latin typeface="DejaVu Sans"/>
              </a:defRPr>
            </a:pPr>
            <a:r>
              <a:t>02</a:t>
            </a:r>
          </a:p>
        </p:txBody>
      </p:sp>
      <p:sp>
        <p:nvSpPr>
          <p:cNvPr id="8" name="Rectangle 7"/>
          <p:cNvSpPr/>
          <p:nvPr/>
        </p:nvSpPr>
        <p:spPr>
          <a:xfrm>
            <a:off x="548640" y="1783080"/>
            <a:ext cx="5440680" cy="1645920"/>
          </a:xfrm>
          <a:prstGeom prst="rect">
            <a:avLst/>
          </a:prstGeom>
          <a:solidFill>
            <a:srgbClr val="EE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1901952"/>
            <a:ext cx="5111496" cy="384048"/>
          </a:xfrm>
          <a:prstGeom prst="rect">
            <a:avLst/>
          </a:prstGeom>
          <a:noFill/>
        </p:spPr>
        <p:txBody>
          <a:bodyPr wrap="square" lIns="18288" rIns="18288" tIns="18288" bIns="18288">
            <a:spAutoFit/>
          </a:bodyPr>
          <a:lstStyle/>
          <a:p>
            <a:pPr>
              <a:spcAft>
                <a:spcPts val="1000"/>
              </a:spcAft>
              <a:defRPr sz="2300" b="1">
                <a:solidFill>
                  <a:srgbClr val="087E8B"/>
                </a:solidFill>
                <a:latin typeface="DejaVu Sans"/>
              </a:defRPr>
            </a:pPr>
            <a:r>
              <a:t>01  Phân bố giá</a:t>
            </a:r>
          </a:p>
        </p:txBody>
      </p:sp>
      <p:sp>
        <p:nvSpPr>
          <p:cNvPr id="10" name="TextBox 9"/>
          <p:cNvSpPr txBox="1"/>
          <p:nvPr/>
        </p:nvSpPr>
        <p:spPr>
          <a:xfrm>
            <a:off x="713232" y="2423160"/>
            <a:ext cx="5111496" cy="932688"/>
          </a:xfrm>
          <a:prstGeom prst="rect">
            <a:avLst/>
          </a:prstGeom>
          <a:noFill/>
        </p:spPr>
        <p:txBody>
          <a:bodyPr wrap="square" lIns="18288" rIns="18288" tIns="18288" bIns="18288">
            <a:spAutoFit/>
          </a:bodyPr>
          <a:lstStyle/>
          <a:p>
            <a:pPr>
              <a:spcAft>
                <a:spcPts val="1000"/>
              </a:spcAft>
              <a:defRPr sz="1700" b="0">
                <a:solidFill>
                  <a:srgbClr val="15344C"/>
                </a:solidFill>
                <a:latin typeface="DejaVu Sans"/>
              </a:defRPr>
            </a:pPr>
            <a:r>
              <a:t>Mức giá điển hình và độ phân tán?</a:t>
            </a:r>
          </a:p>
          <a:p>
            <a:pPr>
              <a:spcAft>
                <a:spcPts val="1000"/>
              </a:spcAft>
              <a:defRPr sz="1700" b="0">
                <a:solidFill>
                  <a:srgbClr val="15344C"/>
                </a:solidFill>
                <a:latin typeface="DejaVu Sans"/>
              </a:defRPr>
            </a:pPr>
            <a:r>
              <a:t>Histogram, median, IQR</a:t>
            </a:r>
          </a:p>
        </p:txBody>
      </p:sp>
      <p:sp>
        <p:nvSpPr>
          <p:cNvPr id="11" name="Rectangle 10"/>
          <p:cNvSpPr/>
          <p:nvPr/>
        </p:nvSpPr>
        <p:spPr>
          <a:xfrm>
            <a:off x="6217920" y="1783080"/>
            <a:ext cx="5440680" cy="1645920"/>
          </a:xfrm>
          <a:prstGeom prst="rect">
            <a:avLst/>
          </a:prstGeom>
          <a:solidFill>
            <a:srgbClr val="EE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82512" y="1901952"/>
            <a:ext cx="5111496" cy="384048"/>
          </a:xfrm>
          <a:prstGeom prst="rect">
            <a:avLst/>
          </a:prstGeom>
          <a:noFill/>
        </p:spPr>
        <p:txBody>
          <a:bodyPr wrap="square" lIns="18288" rIns="18288" tIns="18288" bIns="18288">
            <a:spAutoFit/>
          </a:bodyPr>
          <a:lstStyle/>
          <a:p>
            <a:pPr>
              <a:spcAft>
                <a:spcPts val="1000"/>
              </a:spcAft>
              <a:defRPr sz="2300" b="1">
                <a:solidFill>
                  <a:srgbClr val="087E8B"/>
                </a:solidFill>
                <a:latin typeface="DejaVu Sans"/>
              </a:defRPr>
            </a:pPr>
            <a:r>
              <a:t>02  Loại phòng</a:t>
            </a:r>
          </a:p>
        </p:txBody>
      </p:sp>
      <p:sp>
        <p:nvSpPr>
          <p:cNvPr id="13" name="TextBox 12"/>
          <p:cNvSpPr txBox="1"/>
          <p:nvPr/>
        </p:nvSpPr>
        <p:spPr>
          <a:xfrm>
            <a:off x="6382512" y="2423160"/>
            <a:ext cx="5111496" cy="932688"/>
          </a:xfrm>
          <a:prstGeom prst="rect">
            <a:avLst/>
          </a:prstGeom>
          <a:noFill/>
        </p:spPr>
        <p:txBody>
          <a:bodyPr wrap="square" lIns="18288" rIns="18288" tIns="18288" bIns="18288">
            <a:spAutoFit/>
          </a:bodyPr>
          <a:lstStyle/>
          <a:p>
            <a:pPr>
              <a:spcAft>
                <a:spcPts val="1000"/>
              </a:spcAft>
              <a:defRPr sz="1700" b="0">
                <a:solidFill>
                  <a:srgbClr val="15344C"/>
                </a:solidFill>
                <a:latin typeface="DejaVu Sans"/>
              </a:defRPr>
            </a:pPr>
            <a:r>
              <a:t>Giá khác nhau giữa các loại phòng?</a:t>
            </a:r>
          </a:p>
          <a:p>
            <a:pPr>
              <a:spcAft>
                <a:spcPts val="1000"/>
              </a:spcAft>
              <a:defRPr sz="1700" b="0">
                <a:solidFill>
                  <a:srgbClr val="15344C"/>
                </a:solidFill>
                <a:latin typeface="DejaVu Sans"/>
              </a:defRPr>
            </a:pPr>
            <a:r>
              <a:t>Boxplot, thống kê nhóm, ANOVA thăm dò</a:t>
            </a:r>
          </a:p>
        </p:txBody>
      </p:sp>
      <p:sp>
        <p:nvSpPr>
          <p:cNvPr id="14" name="Rectangle 13"/>
          <p:cNvSpPr/>
          <p:nvPr/>
        </p:nvSpPr>
        <p:spPr>
          <a:xfrm>
            <a:off x="548640" y="3767328"/>
            <a:ext cx="5440680" cy="1645920"/>
          </a:xfrm>
          <a:prstGeom prst="rect">
            <a:avLst/>
          </a:prstGeom>
          <a:solidFill>
            <a:srgbClr val="EE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13232" y="3886200"/>
            <a:ext cx="5111496" cy="384048"/>
          </a:xfrm>
          <a:prstGeom prst="rect">
            <a:avLst/>
          </a:prstGeom>
          <a:noFill/>
        </p:spPr>
        <p:txBody>
          <a:bodyPr wrap="square" lIns="18288" rIns="18288" tIns="18288" bIns="18288">
            <a:spAutoFit/>
          </a:bodyPr>
          <a:lstStyle/>
          <a:p>
            <a:pPr>
              <a:spcAft>
                <a:spcPts val="1000"/>
              </a:spcAft>
              <a:defRPr sz="2300" b="1">
                <a:solidFill>
                  <a:srgbClr val="087E8B"/>
                </a:solidFill>
                <a:latin typeface="DejaVu Sans"/>
              </a:defRPr>
            </a:pPr>
            <a:r>
              <a:t>03  Quy mô chỗ ở</a:t>
            </a:r>
          </a:p>
        </p:txBody>
      </p:sp>
      <p:sp>
        <p:nvSpPr>
          <p:cNvPr id="16" name="TextBox 15"/>
          <p:cNvSpPr txBox="1"/>
          <p:nvPr/>
        </p:nvSpPr>
        <p:spPr>
          <a:xfrm>
            <a:off x="713232" y="4407408"/>
            <a:ext cx="5111496" cy="932688"/>
          </a:xfrm>
          <a:prstGeom prst="rect">
            <a:avLst/>
          </a:prstGeom>
          <a:noFill/>
        </p:spPr>
        <p:txBody>
          <a:bodyPr wrap="square" lIns="18288" rIns="18288" tIns="18288" bIns="18288">
            <a:spAutoFit/>
          </a:bodyPr>
          <a:lstStyle/>
          <a:p>
            <a:pPr>
              <a:spcAft>
                <a:spcPts val="1000"/>
              </a:spcAft>
              <a:defRPr sz="1700" b="0">
                <a:solidFill>
                  <a:srgbClr val="15344C"/>
                </a:solidFill>
                <a:latin typeface="DejaVu Sans"/>
              </a:defRPr>
            </a:pPr>
            <a:r>
              <a:t>Số khách/phòng/giường liên hệ với giá?</a:t>
            </a:r>
          </a:p>
          <a:p>
            <a:pPr>
              <a:spcAft>
                <a:spcPts val="1000"/>
              </a:spcAft>
              <a:defRPr sz="1700" b="0">
                <a:solidFill>
                  <a:srgbClr val="15344C"/>
                </a:solidFill>
                <a:latin typeface="DejaVu Sans"/>
              </a:defRPr>
            </a:pPr>
            <a:r>
              <a:t>Pearson r, p, n và scatter</a:t>
            </a:r>
          </a:p>
        </p:txBody>
      </p:sp>
      <p:sp>
        <p:nvSpPr>
          <p:cNvPr id="17" name="Rectangle 16"/>
          <p:cNvSpPr/>
          <p:nvPr/>
        </p:nvSpPr>
        <p:spPr>
          <a:xfrm>
            <a:off x="6217920" y="3767328"/>
            <a:ext cx="5440680" cy="1645920"/>
          </a:xfrm>
          <a:prstGeom prst="rect">
            <a:avLst/>
          </a:prstGeom>
          <a:solidFill>
            <a:srgbClr val="EE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82512" y="3886200"/>
            <a:ext cx="5111496" cy="384048"/>
          </a:xfrm>
          <a:prstGeom prst="rect">
            <a:avLst/>
          </a:prstGeom>
          <a:noFill/>
        </p:spPr>
        <p:txBody>
          <a:bodyPr wrap="square" lIns="18288" rIns="18288" tIns="18288" bIns="18288">
            <a:spAutoFit/>
          </a:bodyPr>
          <a:lstStyle/>
          <a:p>
            <a:pPr>
              <a:spcAft>
                <a:spcPts val="1000"/>
              </a:spcAft>
              <a:defRPr sz="2300" b="1">
                <a:solidFill>
                  <a:srgbClr val="087E8B"/>
                </a:solidFill>
                <a:latin typeface="DejaVu Sans"/>
              </a:defRPr>
            </a:pPr>
            <a:r>
              <a:t>04  Khu vực</a:t>
            </a:r>
          </a:p>
        </p:txBody>
      </p:sp>
      <p:sp>
        <p:nvSpPr>
          <p:cNvPr id="19" name="TextBox 18"/>
          <p:cNvSpPr txBox="1"/>
          <p:nvPr/>
        </p:nvSpPr>
        <p:spPr>
          <a:xfrm>
            <a:off x="6382512" y="4407408"/>
            <a:ext cx="5111496" cy="932688"/>
          </a:xfrm>
          <a:prstGeom prst="rect">
            <a:avLst/>
          </a:prstGeom>
          <a:noFill/>
        </p:spPr>
        <p:txBody>
          <a:bodyPr wrap="square" lIns="18288" rIns="18288" tIns="18288" bIns="18288">
            <a:spAutoFit/>
          </a:bodyPr>
          <a:lstStyle/>
          <a:p>
            <a:pPr>
              <a:spcAft>
                <a:spcPts val="1000"/>
              </a:spcAft>
              <a:defRPr sz="1700" b="0">
                <a:solidFill>
                  <a:srgbClr val="15344C"/>
                </a:solidFill>
                <a:latin typeface="DejaVu Sans"/>
              </a:defRPr>
            </a:pPr>
            <a:r>
              <a:t>Khác biệt trong cùng loại phòng?</a:t>
            </a:r>
          </a:p>
          <a:p>
            <a:pPr>
              <a:spcAft>
                <a:spcPts val="1000"/>
              </a:spcAft>
              <a:defRPr sz="1700" b="0">
                <a:solidFill>
                  <a:srgbClr val="15344C"/>
                </a:solidFill>
                <a:latin typeface="DejaVu Sans"/>
              </a:defRPr>
            </a:pPr>
            <a:r>
              <a:t>Pivot median/count/IQR, bar, heatmap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0058400" cy="274320"/>
          </a:xfrm>
          <a:prstGeom prst="rect">
            <a:avLst/>
          </a:prstGeom>
          <a:noFill/>
        </p:spPr>
        <p:txBody>
          <a:bodyPr wrap="square" lIns="18288" rIns="18288" tIns="18288" bIns="18288">
            <a:spAutoFit/>
          </a:bodyPr>
          <a:lstStyle/>
          <a:p>
            <a:pPr>
              <a:spcAft>
                <a:spcPts val="1000"/>
              </a:spcAft>
              <a:defRPr sz="1100" b="0">
                <a:solidFill>
                  <a:srgbClr val="536777"/>
                </a:solidFill>
                <a:latin typeface="DejaVu Sans"/>
              </a:defRPr>
            </a:pPr>
            <a:r>
              <a:t>IE313 • NHÓM 10 • AIRBNB BANGKOK</a:t>
            </a:r>
          </a:p>
        </p:txBody>
      </p:sp>
      <p:sp>
        <p:nvSpPr>
          <p:cNvPr id="4" name="TextBox 3"/>
          <p:cNvSpPr txBox="1"/>
          <p:nvPr/>
        </p:nvSpPr>
        <p:spPr>
          <a:xfrm>
            <a:off x="502920" y="768096"/>
            <a:ext cx="11155680" cy="731520"/>
          </a:xfrm>
          <a:prstGeom prst="rect">
            <a:avLst/>
          </a:prstGeom>
          <a:noFill/>
        </p:spPr>
        <p:txBody>
          <a:bodyPr wrap="square" lIns="18288" rIns="18288" tIns="18288" bIns="18288">
            <a:spAutoFit/>
          </a:bodyPr>
          <a:lstStyle/>
          <a:p>
            <a:pPr>
              <a:spcAft>
                <a:spcPts val="1000"/>
              </a:spcAft>
              <a:defRPr sz="2900" b="1">
                <a:solidFill>
                  <a:srgbClr val="15344C"/>
                </a:solidFill>
                <a:latin typeface="DejaVu Sans"/>
              </a:defRPr>
            </a:pPr>
            <a:r>
              <a:t>Dữ liệu: một listing trong một đợt thu thập</a:t>
            </a:r>
          </a:p>
        </p:txBody>
      </p:sp>
      <p:sp>
        <p:nvSpPr>
          <p:cNvPr id="5" name="Rectangle 4"/>
          <p:cNvSpPr/>
          <p:nvPr/>
        </p:nvSpPr>
        <p:spPr>
          <a:xfrm>
            <a:off x="502920" y="6291072"/>
            <a:ext cx="11155680" cy="10972"/>
          </a:xfrm>
          <a:prstGeom prst="rect">
            <a:avLst/>
          </a:prstGeom>
          <a:solidFill>
            <a:srgbClr val="CFDB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400800"/>
            <a:ext cx="10607040" cy="292608"/>
          </a:xfrm>
          <a:prstGeom prst="rect">
            <a:avLst/>
          </a:prstGeom>
          <a:noFill/>
        </p:spPr>
        <p:txBody>
          <a:bodyPr wrap="square" lIns="18288" rIns="18288" tIns="18288" bIns="18288">
            <a:spAutoFit/>
          </a:bodyPr>
          <a:lstStyle/>
          <a:p>
            <a:pPr>
              <a:spcAft>
                <a:spcPts val="1000"/>
              </a:spcAft>
              <a:defRPr sz="900" b="0">
                <a:solidFill>
                  <a:srgbClr val="536777"/>
                </a:solidFill>
                <a:latin typeface="DejaVu Sans"/>
              </a:defRPr>
            </a:pPr>
            <a:r>
              <a:t>Nguồn: data/source_manifest.json • reports/audit/bangkok_columns.csv</a:t>
            </a:r>
          </a:p>
        </p:txBody>
      </p:sp>
      <p:sp>
        <p:nvSpPr>
          <p:cNvPr id="7" name="TextBox 6"/>
          <p:cNvSpPr txBox="1"/>
          <p:nvPr/>
        </p:nvSpPr>
        <p:spPr>
          <a:xfrm>
            <a:off x="11109960" y="6400800"/>
            <a:ext cx="548640" cy="274320"/>
          </a:xfrm>
          <a:prstGeom prst="rect">
            <a:avLst/>
          </a:prstGeom>
          <a:noFill/>
        </p:spPr>
        <p:txBody>
          <a:bodyPr wrap="square" lIns="18288" rIns="18288" tIns="18288" bIns="18288">
            <a:spAutoFit/>
          </a:bodyPr>
          <a:lstStyle/>
          <a:p>
            <a:pPr>
              <a:spcAft>
                <a:spcPts val="1000"/>
              </a:spcAft>
              <a:defRPr sz="1000" b="1">
                <a:solidFill>
                  <a:srgbClr val="087E8B"/>
                </a:solidFill>
                <a:latin typeface="DejaVu Sans"/>
              </a:defRPr>
            </a:pPr>
            <a:r>
              <a:t>03</a:t>
            </a:r>
          </a:p>
        </p:txBody>
      </p:sp>
      <p:sp>
        <p:nvSpPr>
          <p:cNvPr id="8" name="Rectangle 7"/>
          <p:cNvSpPr/>
          <p:nvPr/>
        </p:nvSpPr>
        <p:spPr>
          <a:xfrm>
            <a:off x="548640" y="1783080"/>
            <a:ext cx="3611880" cy="1645920"/>
          </a:xfrm>
          <a:prstGeom prst="rect">
            <a:avLst/>
          </a:prstGeom>
          <a:solidFill>
            <a:srgbClr val="EE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1901952"/>
            <a:ext cx="3282696" cy="384048"/>
          </a:xfrm>
          <a:prstGeom prst="rect">
            <a:avLst/>
          </a:prstGeom>
          <a:noFill/>
        </p:spPr>
        <p:txBody>
          <a:bodyPr wrap="square" lIns="18288" rIns="18288" tIns="18288" bIns="18288">
            <a:spAutoFit/>
          </a:bodyPr>
          <a:lstStyle/>
          <a:p>
            <a:pPr>
              <a:spcAft>
                <a:spcPts val="1000"/>
              </a:spcAft>
              <a:defRPr sz="2300" b="1">
                <a:solidFill>
                  <a:srgbClr val="087E8B"/>
                </a:solidFill>
                <a:latin typeface="DejaVu Sans"/>
              </a:defRPr>
            </a:pPr>
            <a:r>
              <a:t>31.069 × 90</a:t>
            </a:r>
          </a:p>
        </p:txBody>
      </p:sp>
      <p:sp>
        <p:nvSpPr>
          <p:cNvPr id="10" name="TextBox 9"/>
          <p:cNvSpPr txBox="1"/>
          <p:nvPr/>
        </p:nvSpPr>
        <p:spPr>
          <a:xfrm>
            <a:off x="713232" y="2423160"/>
            <a:ext cx="3282696" cy="932688"/>
          </a:xfrm>
          <a:prstGeom prst="rect">
            <a:avLst/>
          </a:prstGeom>
          <a:noFill/>
        </p:spPr>
        <p:txBody>
          <a:bodyPr wrap="square" lIns="18288" rIns="18288" tIns="18288" bIns="18288">
            <a:spAutoFit/>
          </a:bodyPr>
          <a:lstStyle/>
          <a:p>
            <a:pPr>
              <a:spcAft>
                <a:spcPts val="1000"/>
              </a:spcAft>
              <a:defRPr sz="1700" b="0">
                <a:solidFill>
                  <a:srgbClr val="15344C"/>
                </a:solidFill>
                <a:latin typeface="DejaVu Sans"/>
              </a:defRPr>
            </a:pPr>
            <a:r>
              <a:t>Dòng × cột trong raw</a:t>
            </a:r>
          </a:p>
          <a:p>
            <a:pPr>
              <a:spcAft>
                <a:spcPts val="1000"/>
              </a:spcAft>
              <a:defRPr sz="1700" b="0">
                <a:solidFill>
                  <a:srgbClr val="15344C"/>
                </a:solidFill>
                <a:latin typeface="DejaVu Sans"/>
              </a:defRPr>
            </a:pPr>
            <a:r>
              <a:t>31.069 ID duy nhất</a:t>
            </a:r>
          </a:p>
        </p:txBody>
      </p:sp>
      <p:sp>
        <p:nvSpPr>
          <p:cNvPr id="11" name="Rectangle 10"/>
          <p:cNvSpPr/>
          <p:nvPr/>
        </p:nvSpPr>
        <p:spPr>
          <a:xfrm>
            <a:off x="4297680" y="1783080"/>
            <a:ext cx="3611880" cy="1645920"/>
          </a:xfrm>
          <a:prstGeom prst="rect">
            <a:avLst/>
          </a:prstGeom>
          <a:solidFill>
            <a:srgbClr val="EE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62272" y="1901952"/>
            <a:ext cx="3282696" cy="384048"/>
          </a:xfrm>
          <a:prstGeom prst="rect">
            <a:avLst/>
          </a:prstGeom>
          <a:noFill/>
        </p:spPr>
        <p:txBody>
          <a:bodyPr wrap="square" lIns="18288" rIns="18288" tIns="18288" bIns="18288">
            <a:spAutoFit/>
          </a:bodyPr>
          <a:lstStyle/>
          <a:p>
            <a:pPr>
              <a:spcAft>
                <a:spcPts val="1000"/>
              </a:spcAft>
              <a:defRPr sz="2300" b="1">
                <a:solidFill>
                  <a:srgbClr val="087E8B"/>
                </a:solidFill>
                <a:latin typeface="DejaVu Sans"/>
              </a:defRPr>
            </a:pPr>
            <a:r>
              <a:t>28.987 × 16</a:t>
            </a:r>
          </a:p>
        </p:txBody>
      </p:sp>
      <p:sp>
        <p:nvSpPr>
          <p:cNvPr id="13" name="TextBox 12"/>
          <p:cNvSpPr txBox="1"/>
          <p:nvPr/>
        </p:nvSpPr>
        <p:spPr>
          <a:xfrm>
            <a:off x="4462272" y="2423160"/>
            <a:ext cx="3282696" cy="932688"/>
          </a:xfrm>
          <a:prstGeom prst="rect">
            <a:avLst/>
          </a:prstGeom>
          <a:noFill/>
        </p:spPr>
        <p:txBody>
          <a:bodyPr wrap="square" lIns="18288" rIns="18288" tIns="18288" bIns="18288">
            <a:spAutoFit/>
          </a:bodyPr>
          <a:lstStyle/>
          <a:p>
            <a:pPr>
              <a:spcAft>
                <a:spcPts val="1000"/>
              </a:spcAft>
              <a:defRPr sz="1700" b="0">
                <a:solidFill>
                  <a:srgbClr val="15344C"/>
                </a:solidFill>
                <a:latin typeface="DejaVu Sans"/>
              </a:defRPr>
            </a:pPr>
            <a:r>
              <a:t>Baseline sau làm sạch</a:t>
            </a:r>
          </a:p>
          <a:p>
            <a:pPr>
              <a:spcAft>
                <a:spcPts val="1000"/>
              </a:spcAft>
              <a:defRPr sz="1700" b="0">
                <a:solidFill>
                  <a:srgbClr val="15344C"/>
                </a:solidFill>
                <a:latin typeface="DejaVu Sans"/>
              </a:defRPr>
            </a:pPr>
            <a:r>
              <a:t>12 biến chính + 4 cột truy vết</a:t>
            </a:r>
          </a:p>
        </p:txBody>
      </p:sp>
      <p:sp>
        <p:nvSpPr>
          <p:cNvPr id="14" name="Rectangle 13"/>
          <p:cNvSpPr/>
          <p:nvPr/>
        </p:nvSpPr>
        <p:spPr>
          <a:xfrm>
            <a:off x="8046720" y="1783080"/>
            <a:ext cx="3611880" cy="1645920"/>
          </a:xfrm>
          <a:prstGeom prst="rect">
            <a:avLst/>
          </a:prstGeom>
          <a:solidFill>
            <a:srgbClr val="EE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1901952"/>
            <a:ext cx="3282696" cy="384048"/>
          </a:xfrm>
          <a:prstGeom prst="rect">
            <a:avLst/>
          </a:prstGeom>
          <a:noFill/>
        </p:spPr>
        <p:txBody>
          <a:bodyPr wrap="square" lIns="18288" rIns="18288" tIns="18288" bIns="18288">
            <a:spAutoFit/>
          </a:bodyPr>
          <a:lstStyle/>
          <a:p>
            <a:pPr>
              <a:spcAft>
                <a:spcPts val="1000"/>
              </a:spcAft>
              <a:defRPr sz="2300" b="1">
                <a:solidFill>
                  <a:srgbClr val="087E8B"/>
                </a:solidFill>
                <a:latin typeface="DejaVu Sans"/>
              </a:defRPr>
            </a:pPr>
            <a:r>
              <a:t>THB / đêm</a:t>
            </a:r>
          </a:p>
        </p:txBody>
      </p:sp>
      <p:sp>
        <p:nvSpPr>
          <p:cNvPr id="16" name="TextBox 15"/>
          <p:cNvSpPr txBox="1"/>
          <p:nvPr/>
        </p:nvSpPr>
        <p:spPr>
          <a:xfrm>
            <a:off x="8211312" y="2423160"/>
            <a:ext cx="3282696" cy="932688"/>
          </a:xfrm>
          <a:prstGeom prst="rect">
            <a:avLst/>
          </a:prstGeom>
          <a:noFill/>
        </p:spPr>
        <p:txBody>
          <a:bodyPr wrap="square" lIns="18288" rIns="18288" tIns="18288" bIns="18288">
            <a:spAutoFit/>
          </a:bodyPr>
          <a:lstStyle/>
          <a:p>
            <a:pPr>
              <a:spcAft>
                <a:spcPts val="1000"/>
              </a:spcAft>
              <a:defRPr sz="1700" b="0">
                <a:solidFill>
                  <a:srgbClr val="15344C"/>
                </a:solidFill>
                <a:latin typeface="DejaVu Sans"/>
              </a:defRPr>
            </a:pPr>
            <a:r>
              <a:t>Báo giá niêm yết</a:t>
            </a:r>
          </a:p>
          <a:p>
            <a:pPr>
              <a:spcAft>
                <a:spcPts val="1000"/>
              </a:spcAft>
              <a:defRPr sz="1700" b="0">
                <a:solidFill>
                  <a:srgbClr val="15344C"/>
                </a:solidFill>
                <a:latin typeface="DejaVu Sans"/>
              </a:defRPr>
            </a:pPr>
            <a:r>
              <a:t>Chưa xác minh đủ thuế/phí</a:t>
            </a:r>
          </a:p>
        </p:txBody>
      </p:sp>
      <p:sp>
        <p:nvSpPr>
          <p:cNvPr id="17" name="TextBox 16"/>
          <p:cNvSpPr txBox="1"/>
          <p:nvPr/>
        </p:nvSpPr>
        <p:spPr>
          <a:xfrm>
            <a:off x="640080" y="3931920"/>
            <a:ext cx="10789920" cy="1280160"/>
          </a:xfrm>
          <a:prstGeom prst="rect">
            <a:avLst/>
          </a:prstGeom>
          <a:noFill/>
        </p:spPr>
        <p:txBody>
          <a:bodyPr wrap="square" lIns="18288" rIns="18288" tIns="18288" bIns="18288">
            <a:spAutoFit/>
          </a:bodyPr>
          <a:lstStyle/>
          <a:p>
            <a:pPr>
              <a:spcAft>
                <a:spcPts val="1000"/>
              </a:spcAft>
              <a:defRPr sz="2100" b="0">
                <a:solidFill>
                  <a:srgbClr val="15344C"/>
                </a:solidFill>
                <a:latin typeface="DejaVu Sans"/>
              </a:defRPr>
            </a:pPr>
            <a:r>
              <a:t>Biến chính: price; room_type, property_type, neighbourhood_cleansed, host_is_superhost; accommodates, bedrooms, bathrooms, beds, minimum_nights, number_of_reviews, review_scores_rating.</a:t>
            </a:r>
          </a:p>
        </p:txBody>
      </p:sp>
      <p:sp>
        <p:nvSpPr>
          <p:cNvPr id="18" name="TextBox 17"/>
          <p:cNvSpPr txBox="1"/>
          <p:nvPr/>
        </p:nvSpPr>
        <p:spPr>
          <a:xfrm>
            <a:off x="640080" y="5486400"/>
            <a:ext cx="10972800" cy="457200"/>
          </a:xfrm>
          <a:prstGeom prst="rect">
            <a:avLst/>
          </a:prstGeom>
          <a:noFill/>
        </p:spPr>
        <p:txBody>
          <a:bodyPr wrap="square" lIns="18288" rIns="18288" tIns="18288" bIns="18288">
            <a:spAutoFit/>
          </a:bodyPr>
          <a:lstStyle/>
          <a:p>
            <a:pPr>
              <a:spcAft>
                <a:spcPts val="1000"/>
              </a:spcAft>
              <a:defRPr sz="2100" b="1">
                <a:solidFill>
                  <a:srgbClr val="087E8B"/>
                </a:solidFill>
                <a:latin typeface="DejaVu Sans"/>
              </a:defRPr>
            </a:pPr>
            <a:r>
              <a:t>7.231 host • 3.215 host có nhiều listing → quan sát có thể phụ thuộc.</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0058400" cy="274320"/>
          </a:xfrm>
          <a:prstGeom prst="rect">
            <a:avLst/>
          </a:prstGeom>
          <a:noFill/>
        </p:spPr>
        <p:txBody>
          <a:bodyPr wrap="square" lIns="18288" rIns="18288" tIns="18288" bIns="18288">
            <a:spAutoFit/>
          </a:bodyPr>
          <a:lstStyle/>
          <a:p>
            <a:pPr>
              <a:spcAft>
                <a:spcPts val="1000"/>
              </a:spcAft>
              <a:defRPr sz="1100" b="0">
                <a:solidFill>
                  <a:srgbClr val="536777"/>
                </a:solidFill>
                <a:latin typeface="DejaVu Sans"/>
              </a:defRPr>
            </a:pPr>
            <a:r>
              <a:t>IE313 • NHÓM 10 • AIRBNB BANGKOK</a:t>
            </a:r>
          </a:p>
        </p:txBody>
      </p:sp>
      <p:sp>
        <p:nvSpPr>
          <p:cNvPr id="4" name="TextBox 3"/>
          <p:cNvSpPr txBox="1"/>
          <p:nvPr/>
        </p:nvSpPr>
        <p:spPr>
          <a:xfrm>
            <a:off x="502920" y="768096"/>
            <a:ext cx="11155680" cy="731520"/>
          </a:xfrm>
          <a:prstGeom prst="rect">
            <a:avLst/>
          </a:prstGeom>
          <a:noFill/>
        </p:spPr>
        <p:txBody>
          <a:bodyPr wrap="square" lIns="18288" rIns="18288" tIns="18288" bIns="18288">
            <a:spAutoFit/>
          </a:bodyPr>
          <a:lstStyle/>
          <a:p>
            <a:pPr>
              <a:spcAft>
                <a:spcPts val="1000"/>
              </a:spcAft>
              <a:defRPr sz="2900" b="1">
                <a:solidFill>
                  <a:srgbClr val="15344C"/>
                </a:solidFill>
                <a:latin typeface="DejaVu Sans"/>
              </a:defRPr>
            </a:pPr>
            <a:r>
              <a:t>Làm sạch có nhật ký, giữ nguyên dữ liệu thô</a:t>
            </a:r>
          </a:p>
        </p:txBody>
      </p:sp>
      <p:sp>
        <p:nvSpPr>
          <p:cNvPr id="5" name="Rectangle 4"/>
          <p:cNvSpPr/>
          <p:nvPr/>
        </p:nvSpPr>
        <p:spPr>
          <a:xfrm>
            <a:off x="502920" y="6291072"/>
            <a:ext cx="11155680" cy="10972"/>
          </a:xfrm>
          <a:prstGeom prst="rect">
            <a:avLst/>
          </a:prstGeom>
          <a:solidFill>
            <a:srgbClr val="CFDB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400800"/>
            <a:ext cx="10607040" cy="292608"/>
          </a:xfrm>
          <a:prstGeom prst="rect">
            <a:avLst/>
          </a:prstGeom>
          <a:noFill/>
        </p:spPr>
        <p:txBody>
          <a:bodyPr wrap="square" lIns="18288" rIns="18288" tIns="18288" bIns="18288">
            <a:spAutoFit/>
          </a:bodyPr>
          <a:lstStyle/>
          <a:p>
            <a:pPr>
              <a:spcAft>
                <a:spcPts val="1000"/>
              </a:spcAft>
              <a:defRPr sz="900" b="0">
                <a:solidFill>
                  <a:srgbClr val="536777"/>
                </a:solidFill>
                <a:latin typeface="DejaVu Sans"/>
              </a:defRPr>
            </a:pPr>
            <a:r>
              <a:t>Nguồn: docs/CLEANING_PLAN.md • reports/cleaning/ • notebook 01</a:t>
            </a:r>
          </a:p>
        </p:txBody>
      </p:sp>
      <p:sp>
        <p:nvSpPr>
          <p:cNvPr id="7" name="TextBox 6"/>
          <p:cNvSpPr txBox="1"/>
          <p:nvPr/>
        </p:nvSpPr>
        <p:spPr>
          <a:xfrm>
            <a:off x="11109960" y="6400800"/>
            <a:ext cx="548640" cy="274320"/>
          </a:xfrm>
          <a:prstGeom prst="rect">
            <a:avLst/>
          </a:prstGeom>
          <a:noFill/>
        </p:spPr>
        <p:txBody>
          <a:bodyPr wrap="square" lIns="18288" rIns="18288" tIns="18288" bIns="18288">
            <a:spAutoFit/>
          </a:bodyPr>
          <a:lstStyle/>
          <a:p>
            <a:pPr>
              <a:spcAft>
                <a:spcPts val="1000"/>
              </a:spcAft>
              <a:defRPr sz="1000" b="1">
                <a:solidFill>
                  <a:srgbClr val="087E8B"/>
                </a:solidFill>
                <a:latin typeface="DejaVu Sans"/>
              </a:defRPr>
            </a:pPr>
            <a:r>
              <a:t>04</a:t>
            </a:r>
          </a:p>
        </p:txBody>
      </p:sp>
      <p:pic>
        <p:nvPicPr>
          <p:cNvPr id="8" name="Picture 7" descr="report_analysis_flow.png"/>
          <p:cNvPicPr>
            <a:picLocks noChangeAspect="1"/>
          </p:cNvPicPr>
          <p:nvPr/>
        </p:nvPicPr>
        <p:blipFill>
          <a:blip r:embed="rId3"/>
          <a:stretch>
            <a:fillRect/>
          </a:stretch>
        </p:blipFill>
        <p:spPr>
          <a:xfrm>
            <a:off x="3043645" y="1737360"/>
            <a:ext cx="6074228" cy="1417320"/>
          </a:xfrm>
          <a:prstGeom prst="rect">
            <a:avLst/>
          </a:prstGeom>
        </p:spPr>
      </p:pic>
      <p:sp>
        <p:nvSpPr>
          <p:cNvPr id="9" name="TextBox 8"/>
          <p:cNvSpPr txBox="1"/>
          <p:nvPr/>
        </p:nvSpPr>
        <p:spPr>
          <a:xfrm>
            <a:off x="731520" y="3520440"/>
            <a:ext cx="10789920" cy="2423160"/>
          </a:xfrm>
          <a:prstGeom prst="rect">
            <a:avLst/>
          </a:prstGeom>
          <a:noFill/>
        </p:spPr>
        <p:txBody>
          <a:bodyPr wrap="square" lIns="18288" rIns="18288" tIns="18288" bIns="18288">
            <a:spAutoFit/>
          </a:bodyPr>
          <a:lstStyle/>
          <a:p>
            <a:pPr>
              <a:spcAft>
                <a:spcPts val="1000"/>
              </a:spcAft>
              <a:defRPr sz="2300" b="0">
                <a:solidFill>
                  <a:srgbClr val="15344C"/>
                </a:solidFill>
                <a:latin typeface="DejaVu Sans"/>
              </a:defRPr>
            </a:pPr>
            <a:r>
              <a:t>2.082 dòng thiếu giá: loại bỏ, không điền giá mục tiêu.</a:t>
            </a:r>
          </a:p>
          <a:p>
            <a:pPr>
              <a:spcAft>
                <a:spcPts val="1000"/>
              </a:spcAft>
              <a:defRPr sz="2300" b="0">
                <a:solidFill>
                  <a:srgbClr val="15344C"/>
                </a:solidFill>
                <a:latin typeface="DejaVu Sans"/>
              </a:defRPr>
            </a:pPr>
            <a:r>
              <a:t>2.730 ngoại lệ IQR: đánh dấu để rà soát, giữ trong phân tích.</a:t>
            </a:r>
          </a:p>
          <a:p>
            <a:pPr>
              <a:spcAft>
                <a:spcPts val="1000"/>
              </a:spcAft>
              <a:defRPr sz="2300" b="0">
                <a:solidFill>
                  <a:srgbClr val="15344C"/>
                </a:solidFill>
                <a:latin typeface="DejaVu Sans"/>
              </a:defRPr>
            </a:pPr>
            <a:r>
              <a:t>Missing predictor: giữ ở baseline, công bố n cho mỗi phép tính.</a:t>
            </a:r>
          </a:p>
          <a:p>
            <a:pPr>
              <a:spcAft>
                <a:spcPts val="1000"/>
              </a:spcAft>
              <a:defRPr sz="2300" b="0">
                <a:solidFill>
                  <a:srgbClr val="15344C"/>
                </a:solidFill>
                <a:latin typeface="DejaVu Sans"/>
              </a:defRPr>
            </a:pPr>
            <a:r>
              <a:t>Các cột báo giá/revenue, ID và host_id: không làm predictor.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0058400" cy="274320"/>
          </a:xfrm>
          <a:prstGeom prst="rect">
            <a:avLst/>
          </a:prstGeom>
          <a:noFill/>
        </p:spPr>
        <p:txBody>
          <a:bodyPr wrap="square" lIns="18288" rIns="18288" tIns="18288" bIns="18288">
            <a:spAutoFit/>
          </a:bodyPr>
          <a:lstStyle/>
          <a:p>
            <a:pPr>
              <a:spcAft>
                <a:spcPts val="1000"/>
              </a:spcAft>
              <a:defRPr sz="1100" b="0">
                <a:solidFill>
                  <a:srgbClr val="536777"/>
                </a:solidFill>
                <a:latin typeface="DejaVu Sans"/>
              </a:defRPr>
            </a:pPr>
            <a:r>
              <a:t>IE313 • NHÓM 10 • AIRBNB BANGKOK</a:t>
            </a:r>
          </a:p>
        </p:txBody>
      </p:sp>
      <p:sp>
        <p:nvSpPr>
          <p:cNvPr id="4" name="TextBox 3"/>
          <p:cNvSpPr txBox="1"/>
          <p:nvPr/>
        </p:nvSpPr>
        <p:spPr>
          <a:xfrm>
            <a:off x="502920" y="768096"/>
            <a:ext cx="11155680" cy="731520"/>
          </a:xfrm>
          <a:prstGeom prst="rect">
            <a:avLst/>
          </a:prstGeom>
          <a:noFill/>
        </p:spPr>
        <p:txBody>
          <a:bodyPr wrap="square" lIns="18288" rIns="18288" tIns="18288" bIns="18288">
            <a:spAutoFit/>
          </a:bodyPr>
          <a:lstStyle/>
          <a:p>
            <a:pPr>
              <a:spcAft>
                <a:spcPts val="1000"/>
              </a:spcAft>
              <a:defRPr sz="2900" b="1">
                <a:solidFill>
                  <a:srgbClr val="15344C"/>
                </a:solidFill>
                <a:latin typeface="DejaVu Sans"/>
              </a:defRPr>
            </a:pPr>
            <a:r>
              <a:t>RQ1 • Trung bình cao hơn nhiều so với trung vị</a:t>
            </a:r>
          </a:p>
        </p:txBody>
      </p:sp>
      <p:sp>
        <p:nvSpPr>
          <p:cNvPr id="5" name="Rectangle 4"/>
          <p:cNvSpPr/>
          <p:nvPr/>
        </p:nvSpPr>
        <p:spPr>
          <a:xfrm>
            <a:off x="502920" y="6291072"/>
            <a:ext cx="11155680" cy="10972"/>
          </a:xfrm>
          <a:prstGeom prst="rect">
            <a:avLst/>
          </a:prstGeom>
          <a:solidFill>
            <a:srgbClr val="CFDB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400800"/>
            <a:ext cx="10607040" cy="292608"/>
          </a:xfrm>
          <a:prstGeom prst="rect">
            <a:avLst/>
          </a:prstGeom>
          <a:noFill/>
        </p:spPr>
        <p:txBody>
          <a:bodyPr wrap="square" lIns="18288" rIns="18288" tIns="18288" bIns="18288">
            <a:spAutoFit/>
          </a:bodyPr>
          <a:lstStyle/>
          <a:p>
            <a:pPr>
              <a:spcAft>
                <a:spcPts val="1000"/>
              </a:spcAft>
              <a:defRPr sz="900" b="0">
                <a:solidFill>
                  <a:srgbClr val="536777"/>
                </a:solidFill>
                <a:latin typeface="DejaVu Sans"/>
              </a:defRPr>
            </a:pPr>
            <a:r>
              <a:t>Nguồn: reports/stats/rq1_price_distribution.json • fig1_price_distribution.png</a:t>
            </a:r>
          </a:p>
        </p:txBody>
      </p:sp>
      <p:sp>
        <p:nvSpPr>
          <p:cNvPr id="7" name="TextBox 6"/>
          <p:cNvSpPr txBox="1"/>
          <p:nvPr/>
        </p:nvSpPr>
        <p:spPr>
          <a:xfrm>
            <a:off x="11109960" y="6400800"/>
            <a:ext cx="548640" cy="274320"/>
          </a:xfrm>
          <a:prstGeom prst="rect">
            <a:avLst/>
          </a:prstGeom>
          <a:noFill/>
        </p:spPr>
        <p:txBody>
          <a:bodyPr wrap="square" lIns="18288" rIns="18288" tIns="18288" bIns="18288">
            <a:spAutoFit/>
          </a:bodyPr>
          <a:lstStyle/>
          <a:p>
            <a:pPr>
              <a:spcAft>
                <a:spcPts val="1000"/>
              </a:spcAft>
              <a:defRPr sz="1000" b="1">
                <a:solidFill>
                  <a:srgbClr val="087E8B"/>
                </a:solidFill>
                <a:latin typeface="DejaVu Sans"/>
              </a:defRPr>
            </a:pPr>
            <a:r>
              <a:t>05</a:t>
            </a:r>
          </a:p>
        </p:txBody>
      </p:sp>
      <p:pic>
        <p:nvPicPr>
          <p:cNvPr id="8" name="Picture 7" descr="fig1_price_distribution.png"/>
          <p:cNvPicPr>
            <a:picLocks noChangeAspect="1"/>
          </p:cNvPicPr>
          <p:nvPr/>
        </p:nvPicPr>
        <p:blipFill>
          <a:blip r:embed="rId3"/>
          <a:stretch>
            <a:fillRect/>
          </a:stretch>
        </p:blipFill>
        <p:spPr>
          <a:xfrm>
            <a:off x="411480" y="2219134"/>
            <a:ext cx="8549640" cy="3206115"/>
          </a:xfrm>
          <a:prstGeom prst="rect">
            <a:avLst/>
          </a:prstGeom>
        </p:spPr>
      </p:pic>
      <p:sp>
        <p:nvSpPr>
          <p:cNvPr id="9" name="TextBox 8"/>
          <p:cNvSpPr txBox="1"/>
          <p:nvPr/>
        </p:nvSpPr>
        <p:spPr>
          <a:xfrm>
            <a:off x="9144000" y="2011680"/>
            <a:ext cx="2560320" cy="731520"/>
          </a:xfrm>
          <a:prstGeom prst="rect">
            <a:avLst/>
          </a:prstGeom>
          <a:noFill/>
        </p:spPr>
        <p:txBody>
          <a:bodyPr wrap="square" lIns="18288" rIns="18288" tIns="18288" bIns="18288">
            <a:spAutoFit/>
          </a:bodyPr>
          <a:lstStyle/>
          <a:p>
            <a:pPr>
              <a:spcAft>
                <a:spcPts val="1000"/>
              </a:spcAft>
              <a:defRPr sz="3500" b="1">
                <a:solidFill>
                  <a:srgbClr val="087E8B"/>
                </a:solidFill>
                <a:latin typeface="DejaVu Sans"/>
              </a:defRPr>
            </a:pPr>
            <a:r>
              <a:t>1.592</a:t>
            </a:r>
          </a:p>
        </p:txBody>
      </p:sp>
      <p:sp>
        <p:nvSpPr>
          <p:cNvPr id="10" name="TextBox 9"/>
          <p:cNvSpPr txBox="1"/>
          <p:nvPr/>
        </p:nvSpPr>
        <p:spPr>
          <a:xfrm>
            <a:off x="9144000" y="2743200"/>
            <a:ext cx="2514600" cy="914400"/>
          </a:xfrm>
          <a:prstGeom prst="rect">
            <a:avLst/>
          </a:prstGeom>
          <a:noFill/>
        </p:spPr>
        <p:txBody>
          <a:bodyPr wrap="square" lIns="18288" rIns="18288" tIns="18288" bIns="18288">
            <a:spAutoFit/>
          </a:bodyPr>
          <a:lstStyle/>
          <a:p>
            <a:pPr>
              <a:spcAft>
                <a:spcPts val="1000"/>
              </a:spcAft>
              <a:defRPr sz="2000" b="0">
                <a:solidFill>
                  <a:srgbClr val="15344C"/>
                </a:solidFill>
                <a:latin typeface="DejaVu Sans"/>
              </a:defRPr>
            </a:pPr>
            <a:r>
              <a:t>THB/đêm</a:t>
            </a:r>
          </a:p>
          <a:p>
            <a:pPr>
              <a:spcAft>
                <a:spcPts val="1000"/>
              </a:spcAft>
              <a:defRPr sz="2000" b="0">
                <a:solidFill>
                  <a:srgbClr val="15344C"/>
                </a:solidFill>
                <a:latin typeface="DejaVu Sans"/>
              </a:defRPr>
            </a:pPr>
            <a:r>
              <a:t>Trung vị</a:t>
            </a:r>
          </a:p>
        </p:txBody>
      </p:sp>
      <p:sp>
        <p:nvSpPr>
          <p:cNvPr id="11" name="TextBox 10"/>
          <p:cNvSpPr txBox="1"/>
          <p:nvPr/>
        </p:nvSpPr>
        <p:spPr>
          <a:xfrm>
            <a:off x="9144000" y="3749039"/>
            <a:ext cx="2514600" cy="2286000"/>
          </a:xfrm>
          <a:prstGeom prst="rect">
            <a:avLst/>
          </a:prstGeom>
          <a:noFill/>
        </p:spPr>
        <p:txBody>
          <a:bodyPr wrap="square" lIns="18288" rIns="18288" tIns="18288" bIns="18288">
            <a:spAutoFit/>
          </a:bodyPr>
          <a:lstStyle/>
          <a:p>
            <a:pPr>
              <a:spcAft>
                <a:spcPts val="1000"/>
              </a:spcAft>
              <a:defRPr sz="2000" b="0">
                <a:solidFill>
                  <a:srgbClr val="15344C"/>
                </a:solidFill>
                <a:latin typeface="DejaVu Sans"/>
              </a:defRPr>
            </a:pPr>
            <a:r>
              <a:t>2.955,96</a:t>
            </a:r>
          </a:p>
          <a:p>
            <a:pPr>
              <a:spcAft>
                <a:spcPts val="1000"/>
              </a:spcAft>
              <a:defRPr sz="2000" b="0">
                <a:solidFill>
                  <a:srgbClr val="15344C"/>
                </a:solidFill>
                <a:latin typeface="DejaVu Sans"/>
              </a:defRPr>
            </a:pPr>
            <a:r>
              <a:t>Trung bình</a:t>
            </a:r>
          </a:p>
          <a:p>
            <a:pPr>
              <a:spcAft>
                <a:spcPts val="1000"/>
              </a:spcAft>
              <a:defRPr sz="2000" b="0">
                <a:solidFill>
                  <a:srgbClr val="15344C"/>
                </a:solidFill>
                <a:latin typeface="DejaVu Sans"/>
              </a:defRPr>
            </a:pPr>
          </a:p>
          <a:p>
            <a:pPr>
              <a:spcAft>
                <a:spcPts val="1000"/>
              </a:spcAft>
              <a:defRPr sz="2000" b="0">
                <a:solidFill>
                  <a:srgbClr val="15344C"/>
                </a:solidFill>
                <a:latin typeface="DejaVu Sans"/>
              </a:defRPr>
            </a:pPr>
            <a:r>
              <a:t>777 điểm ngoài khung 10.000 vẫn được giữ.</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0058400" cy="274320"/>
          </a:xfrm>
          <a:prstGeom prst="rect">
            <a:avLst/>
          </a:prstGeom>
          <a:noFill/>
        </p:spPr>
        <p:txBody>
          <a:bodyPr wrap="square" lIns="18288" rIns="18288" tIns="18288" bIns="18288">
            <a:spAutoFit/>
          </a:bodyPr>
          <a:lstStyle/>
          <a:p>
            <a:pPr>
              <a:spcAft>
                <a:spcPts val="1000"/>
              </a:spcAft>
              <a:defRPr sz="1100" b="0">
                <a:solidFill>
                  <a:srgbClr val="536777"/>
                </a:solidFill>
                <a:latin typeface="DejaVu Sans"/>
              </a:defRPr>
            </a:pPr>
            <a:r>
              <a:t>IE313 • NHÓM 10 • AIRBNB BANGKOK</a:t>
            </a:r>
          </a:p>
        </p:txBody>
      </p:sp>
      <p:sp>
        <p:nvSpPr>
          <p:cNvPr id="4" name="TextBox 3"/>
          <p:cNvSpPr txBox="1"/>
          <p:nvPr/>
        </p:nvSpPr>
        <p:spPr>
          <a:xfrm>
            <a:off x="502920" y="768096"/>
            <a:ext cx="11155680" cy="731520"/>
          </a:xfrm>
          <a:prstGeom prst="rect">
            <a:avLst/>
          </a:prstGeom>
          <a:noFill/>
        </p:spPr>
        <p:txBody>
          <a:bodyPr wrap="square" lIns="18288" rIns="18288" tIns="18288" bIns="18288">
            <a:spAutoFit/>
          </a:bodyPr>
          <a:lstStyle/>
          <a:p>
            <a:pPr>
              <a:spcAft>
                <a:spcPts val="1000"/>
              </a:spcAft>
              <a:defRPr sz="2900" b="1">
                <a:solidFill>
                  <a:srgbClr val="15344C"/>
                </a:solidFill>
                <a:latin typeface="DejaVu Sans"/>
              </a:defRPr>
            </a:pPr>
            <a:r>
              <a:t>RQ2 • So sánh giá cần xét loại phòng</a:t>
            </a:r>
          </a:p>
        </p:txBody>
      </p:sp>
      <p:sp>
        <p:nvSpPr>
          <p:cNvPr id="5" name="Rectangle 4"/>
          <p:cNvSpPr/>
          <p:nvPr/>
        </p:nvSpPr>
        <p:spPr>
          <a:xfrm>
            <a:off x="502920" y="6291072"/>
            <a:ext cx="11155680" cy="10972"/>
          </a:xfrm>
          <a:prstGeom prst="rect">
            <a:avLst/>
          </a:prstGeom>
          <a:solidFill>
            <a:srgbClr val="CFDB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400800"/>
            <a:ext cx="10607040" cy="292608"/>
          </a:xfrm>
          <a:prstGeom prst="rect">
            <a:avLst/>
          </a:prstGeom>
          <a:noFill/>
        </p:spPr>
        <p:txBody>
          <a:bodyPr wrap="square" lIns="18288" rIns="18288" tIns="18288" bIns="18288">
            <a:spAutoFit/>
          </a:bodyPr>
          <a:lstStyle/>
          <a:p>
            <a:pPr>
              <a:spcAft>
                <a:spcPts val="1000"/>
              </a:spcAft>
              <a:defRPr sz="900" b="0">
                <a:solidFill>
                  <a:srgbClr val="536777"/>
                </a:solidFill>
                <a:latin typeface="DejaVu Sans"/>
              </a:defRPr>
            </a:pPr>
            <a:r>
              <a:t>Nguồn: rq2_room_type_stats.json • rq2_anova_condition_checks.json • notebook 02–03</a:t>
            </a:r>
          </a:p>
        </p:txBody>
      </p:sp>
      <p:sp>
        <p:nvSpPr>
          <p:cNvPr id="7" name="TextBox 6"/>
          <p:cNvSpPr txBox="1"/>
          <p:nvPr/>
        </p:nvSpPr>
        <p:spPr>
          <a:xfrm>
            <a:off x="11109960" y="6400800"/>
            <a:ext cx="548640" cy="274320"/>
          </a:xfrm>
          <a:prstGeom prst="rect">
            <a:avLst/>
          </a:prstGeom>
          <a:noFill/>
        </p:spPr>
        <p:txBody>
          <a:bodyPr wrap="square" lIns="18288" rIns="18288" tIns="18288" bIns="18288">
            <a:spAutoFit/>
          </a:bodyPr>
          <a:lstStyle/>
          <a:p>
            <a:pPr>
              <a:spcAft>
                <a:spcPts val="1000"/>
              </a:spcAft>
              <a:defRPr sz="1000" b="1">
                <a:solidFill>
                  <a:srgbClr val="087E8B"/>
                </a:solidFill>
                <a:latin typeface="DejaVu Sans"/>
              </a:defRPr>
            </a:pPr>
            <a:r>
              <a:t>06</a:t>
            </a:r>
          </a:p>
        </p:txBody>
      </p:sp>
      <p:pic>
        <p:nvPicPr>
          <p:cNvPr id="8" name="Picture 7" descr="fig2_price_by_room_type.png"/>
          <p:cNvPicPr>
            <a:picLocks noChangeAspect="1"/>
          </p:cNvPicPr>
          <p:nvPr/>
        </p:nvPicPr>
        <p:blipFill>
          <a:blip r:embed="rId3"/>
          <a:stretch>
            <a:fillRect/>
          </a:stretch>
        </p:blipFill>
        <p:spPr>
          <a:xfrm>
            <a:off x="411480" y="2155126"/>
            <a:ext cx="8549640" cy="3206115"/>
          </a:xfrm>
          <a:prstGeom prst="rect">
            <a:avLst/>
          </a:prstGeom>
        </p:spPr>
      </p:pic>
      <p:sp>
        <p:nvSpPr>
          <p:cNvPr id="9" name="TextBox 8"/>
          <p:cNvSpPr txBox="1"/>
          <p:nvPr/>
        </p:nvSpPr>
        <p:spPr>
          <a:xfrm>
            <a:off x="9144000" y="1874519"/>
            <a:ext cx="2514600" cy="640080"/>
          </a:xfrm>
          <a:prstGeom prst="rect">
            <a:avLst/>
          </a:prstGeom>
          <a:noFill/>
        </p:spPr>
        <p:txBody>
          <a:bodyPr wrap="square" lIns="18288" rIns="18288" tIns="18288" bIns="18288">
            <a:spAutoFit/>
          </a:bodyPr>
          <a:lstStyle/>
          <a:p>
            <a:pPr>
              <a:spcAft>
                <a:spcPts val="1000"/>
              </a:spcAft>
              <a:defRPr sz="3100" b="1">
                <a:solidFill>
                  <a:srgbClr val="087E8B"/>
                </a:solidFill>
                <a:latin typeface="DejaVu Sans"/>
              </a:defRPr>
            </a:pPr>
            <a:r>
              <a:t>431,22</a:t>
            </a:r>
          </a:p>
        </p:txBody>
      </p:sp>
      <p:sp>
        <p:nvSpPr>
          <p:cNvPr id="10" name="TextBox 9"/>
          <p:cNvSpPr txBox="1"/>
          <p:nvPr/>
        </p:nvSpPr>
        <p:spPr>
          <a:xfrm>
            <a:off x="9144000" y="2606040"/>
            <a:ext cx="2514600" cy="1005840"/>
          </a:xfrm>
          <a:prstGeom prst="rect">
            <a:avLst/>
          </a:prstGeom>
          <a:noFill/>
        </p:spPr>
        <p:txBody>
          <a:bodyPr wrap="square" lIns="18288" rIns="18288" tIns="18288" bIns="18288">
            <a:spAutoFit/>
          </a:bodyPr>
          <a:lstStyle/>
          <a:p>
            <a:pPr>
              <a:spcAft>
                <a:spcPts val="1000"/>
              </a:spcAft>
              <a:defRPr sz="1800" b="0">
                <a:solidFill>
                  <a:srgbClr val="15344C"/>
                </a:solidFill>
                <a:latin typeface="DejaVu Sans"/>
              </a:defRPr>
            </a:pPr>
            <a:r>
              <a:t>Shared room</a:t>
            </a:r>
          </a:p>
          <a:p>
            <a:pPr>
              <a:spcAft>
                <a:spcPts val="1000"/>
              </a:spcAft>
              <a:defRPr sz="1800" b="0">
                <a:solidFill>
                  <a:srgbClr val="15344C"/>
                </a:solidFill>
                <a:latin typeface="DejaVu Sans"/>
              </a:defRPr>
            </a:pPr>
            <a:r>
              <a:t>Median THB/đêm</a:t>
            </a:r>
          </a:p>
        </p:txBody>
      </p:sp>
      <p:sp>
        <p:nvSpPr>
          <p:cNvPr id="11" name="TextBox 10"/>
          <p:cNvSpPr txBox="1"/>
          <p:nvPr/>
        </p:nvSpPr>
        <p:spPr>
          <a:xfrm>
            <a:off x="9144000" y="3749039"/>
            <a:ext cx="2514600" cy="640080"/>
          </a:xfrm>
          <a:prstGeom prst="rect">
            <a:avLst/>
          </a:prstGeom>
          <a:noFill/>
        </p:spPr>
        <p:txBody>
          <a:bodyPr wrap="square" lIns="18288" rIns="18288" tIns="18288" bIns="18288">
            <a:spAutoFit/>
          </a:bodyPr>
          <a:lstStyle/>
          <a:p>
            <a:pPr>
              <a:spcAft>
                <a:spcPts val="1000"/>
              </a:spcAft>
              <a:defRPr sz="3100" b="1">
                <a:solidFill>
                  <a:srgbClr val="087E8B"/>
                </a:solidFill>
                <a:latin typeface="DejaVu Sans"/>
              </a:defRPr>
            </a:pPr>
            <a:r>
              <a:t>1.715,44</a:t>
            </a:r>
          </a:p>
        </p:txBody>
      </p:sp>
      <p:sp>
        <p:nvSpPr>
          <p:cNvPr id="12" name="TextBox 11"/>
          <p:cNvSpPr txBox="1"/>
          <p:nvPr/>
        </p:nvSpPr>
        <p:spPr>
          <a:xfrm>
            <a:off x="9144000" y="4480560"/>
            <a:ext cx="2514600" cy="1005840"/>
          </a:xfrm>
          <a:prstGeom prst="rect">
            <a:avLst/>
          </a:prstGeom>
          <a:noFill/>
        </p:spPr>
        <p:txBody>
          <a:bodyPr wrap="square" lIns="18288" rIns="18288" tIns="18288" bIns="18288">
            <a:spAutoFit/>
          </a:bodyPr>
          <a:lstStyle/>
          <a:p>
            <a:pPr>
              <a:spcAft>
                <a:spcPts val="1000"/>
              </a:spcAft>
              <a:defRPr sz="1800" b="0">
                <a:solidFill>
                  <a:srgbClr val="15344C"/>
                </a:solidFill>
                <a:latin typeface="DejaVu Sans"/>
              </a:defRPr>
            </a:pPr>
            <a:r>
              <a:t>Entire home/apt</a:t>
            </a:r>
          </a:p>
          <a:p>
            <a:pPr>
              <a:spcAft>
                <a:spcPts val="1000"/>
              </a:spcAft>
              <a:defRPr sz="1800" b="0">
                <a:solidFill>
                  <a:srgbClr val="15344C"/>
                </a:solidFill>
                <a:latin typeface="DejaVu Sans"/>
              </a:defRPr>
            </a:pPr>
            <a:r>
              <a:t>Median THB/đêm</a:t>
            </a:r>
          </a:p>
        </p:txBody>
      </p:sp>
      <p:sp>
        <p:nvSpPr>
          <p:cNvPr id="13" name="TextBox 12"/>
          <p:cNvSpPr txBox="1"/>
          <p:nvPr/>
        </p:nvSpPr>
        <p:spPr>
          <a:xfrm>
            <a:off x="731520" y="5788152"/>
            <a:ext cx="10972800" cy="411480"/>
          </a:xfrm>
          <a:prstGeom prst="rect">
            <a:avLst/>
          </a:prstGeom>
          <a:noFill/>
        </p:spPr>
        <p:txBody>
          <a:bodyPr wrap="square" lIns="18288" rIns="18288" tIns="18288" bIns="18288">
            <a:spAutoFit/>
          </a:bodyPr>
          <a:lstStyle/>
          <a:p>
            <a:pPr>
              <a:spcAft>
                <a:spcPts val="1000"/>
              </a:spcAft>
              <a:defRPr sz="1700" b="0">
                <a:solidFill>
                  <a:srgbClr val="15344C"/>
                </a:solidFill>
                <a:latin typeface="DejaVu Sans"/>
              </a:defRPr>
            </a:pPr>
            <a:r>
              <a:t>ANOVA thăm dò: F=5,9323; p=0,000485542. Không suy ra tác động nhân quả.</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0058400" cy="274320"/>
          </a:xfrm>
          <a:prstGeom prst="rect">
            <a:avLst/>
          </a:prstGeom>
          <a:noFill/>
        </p:spPr>
        <p:txBody>
          <a:bodyPr wrap="square" lIns="18288" rIns="18288" tIns="18288" bIns="18288">
            <a:spAutoFit/>
          </a:bodyPr>
          <a:lstStyle/>
          <a:p>
            <a:pPr>
              <a:spcAft>
                <a:spcPts val="1000"/>
              </a:spcAft>
              <a:defRPr sz="1100" b="0">
                <a:solidFill>
                  <a:srgbClr val="536777"/>
                </a:solidFill>
                <a:latin typeface="DejaVu Sans"/>
              </a:defRPr>
            </a:pPr>
            <a:r>
              <a:t>IE313 • NHÓM 10 • AIRBNB BANGKOK</a:t>
            </a:r>
          </a:p>
        </p:txBody>
      </p:sp>
      <p:sp>
        <p:nvSpPr>
          <p:cNvPr id="4" name="TextBox 3"/>
          <p:cNvSpPr txBox="1"/>
          <p:nvPr/>
        </p:nvSpPr>
        <p:spPr>
          <a:xfrm>
            <a:off x="502920" y="768096"/>
            <a:ext cx="11155680" cy="731520"/>
          </a:xfrm>
          <a:prstGeom prst="rect">
            <a:avLst/>
          </a:prstGeom>
          <a:noFill/>
        </p:spPr>
        <p:txBody>
          <a:bodyPr wrap="square" lIns="18288" rIns="18288" tIns="18288" bIns="18288">
            <a:spAutoFit/>
          </a:bodyPr>
          <a:lstStyle/>
          <a:p>
            <a:pPr>
              <a:spcAft>
                <a:spcPts val="1000"/>
              </a:spcAft>
              <a:defRPr sz="2900" b="1">
                <a:solidFill>
                  <a:srgbClr val="15344C"/>
                </a:solidFill>
                <a:latin typeface="DejaVu Sans"/>
              </a:defRPr>
            </a:pPr>
            <a:r>
              <a:t>RQ3 • p nhỏ, nhưng tương quan tuyến tính yếu</a:t>
            </a:r>
          </a:p>
        </p:txBody>
      </p:sp>
      <p:sp>
        <p:nvSpPr>
          <p:cNvPr id="5" name="Rectangle 4"/>
          <p:cNvSpPr/>
          <p:nvPr/>
        </p:nvSpPr>
        <p:spPr>
          <a:xfrm>
            <a:off x="502920" y="6291072"/>
            <a:ext cx="11155680" cy="10972"/>
          </a:xfrm>
          <a:prstGeom prst="rect">
            <a:avLst/>
          </a:prstGeom>
          <a:solidFill>
            <a:srgbClr val="CFDB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400800"/>
            <a:ext cx="10607040" cy="292608"/>
          </a:xfrm>
          <a:prstGeom prst="rect">
            <a:avLst/>
          </a:prstGeom>
          <a:noFill/>
        </p:spPr>
        <p:txBody>
          <a:bodyPr wrap="square" lIns="18288" rIns="18288" tIns="18288" bIns="18288">
            <a:spAutoFit/>
          </a:bodyPr>
          <a:lstStyle/>
          <a:p>
            <a:pPr>
              <a:spcAft>
                <a:spcPts val="1000"/>
              </a:spcAft>
              <a:defRPr sz="900" b="0">
                <a:solidFill>
                  <a:srgbClr val="536777"/>
                </a:solidFill>
                <a:latin typeface="DejaVu Sans"/>
              </a:defRPr>
            </a:pPr>
            <a:r>
              <a:t>Nguồn: reports/stats/rq3_size_correlation.json • fig3_price_vs_size_scatter.png</a:t>
            </a:r>
          </a:p>
        </p:txBody>
      </p:sp>
      <p:sp>
        <p:nvSpPr>
          <p:cNvPr id="7" name="TextBox 6"/>
          <p:cNvSpPr txBox="1"/>
          <p:nvPr/>
        </p:nvSpPr>
        <p:spPr>
          <a:xfrm>
            <a:off x="11109960" y="6400800"/>
            <a:ext cx="548640" cy="274320"/>
          </a:xfrm>
          <a:prstGeom prst="rect">
            <a:avLst/>
          </a:prstGeom>
          <a:noFill/>
        </p:spPr>
        <p:txBody>
          <a:bodyPr wrap="square" lIns="18288" rIns="18288" tIns="18288" bIns="18288">
            <a:spAutoFit/>
          </a:bodyPr>
          <a:lstStyle/>
          <a:p>
            <a:pPr>
              <a:spcAft>
                <a:spcPts val="1000"/>
              </a:spcAft>
              <a:defRPr sz="1000" b="1">
                <a:solidFill>
                  <a:srgbClr val="087E8B"/>
                </a:solidFill>
                <a:latin typeface="DejaVu Sans"/>
              </a:defRPr>
            </a:pPr>
            <a:r>
              <a:t>07</a:t>
            </a:r>
          </a:p>
        </p:txBody>
      </p:sp>
      <p:pic>
        <p:nvPicPr>
          <p:cNvPr id="8" name="Picture 7" descr="fig3_price_vs_size_scatter.png"/>
          <p:cNvPicPr>
            <a:picLocks noChangeAspect="1"/>
          </p:cNvPicPr>
          <p:nvPr/>
        </p:nvPicPr>
        <p:blipFill>
          <a:blip r:embed="rId3"/>
          <a:stretch>
            <a:fillRect/>
          </a:stretch>
        </p:blipFill>
        <p:spPr>
          <a:xfrm>
            <a:off x="906087" y="1600200"/>
            <a:ext cx="6234545" cy="4572000"/>
          </a:xfrm>
          <a:prstGeom prst="rect">
            <a:avLst/>
          </a:prstGeom>
        </p:spPr>
      </p:pic>
      <p:sp>
        <p:nvSpPr>
          <p:cNvPr id="9" name="TextBox 8"/>
          <p:cNvSpPr txBox="1"/>
          <p:nvPr/>
        </p:nvSpPr>
        <p:spPr>
          <a:xfrm>
            <a:off x="7818120" y="1965960"/>
            <a:ext cx="1508760" cy="2606040"/>
          </a:xfrm>
          <a:prstGeom prst="rect">
            <a:avLst/>
          </a:prstGeom>
          <a:noFill/>
        </p:spPr>
        <p:txBody>
          <a:bodyPr wrap="square" lIns="18288" rIns="18288" tIns="18288" bIns="18288">
            <a:spAutoFit/>
          </a:bodyPr>
          <a:lstStyle/>
          <a:p>
            <a:pPr>
              <a:spcAft>
                <a:spcPts val="1000"/>
              </a:spcAft>
              <a:defRPr sz="1900" b="0">
                <a:solidFill>
                  <a:srgbClr val="15344C"/>
                </a:solidFill>
                <a:latin typeface="DejaVu Sans"/>
              </a:defRPr>
            </a:pPr>
            <a:r>
              <a:t>Biến</a:t>
            </a:r>
          </a:p>
          <a:p>
            <a:pPr>
              <a:spcAft>
                <a:spcPts val="1000"/>
              </a:spcAft>
              <a:defRPr sz="1900" b="0">
                <a:solidFill>
                  <a:srgbClr val="15344C"/>
                </a:solidFill>
                <a:latin typeface="DejaVu Sans"/>
              </a:defRPr>
            </a:pPr>
            <a:r>
              <a:t>Số khách</a:t>
            </a:r>
          </a:p>
          <a:p>
            <a:pPr>
              <a:spcAft>
                <a:spcPts val="1000"/>
              </a:spcAft>
              <a:defRPr sz="1900" b="0">
                <a:solidFill>
                  <a:srgbClr val="15344C"/>
                </a:solidFill>
                <a:latin typeface="DejaVu Sans"/>
              </a:defRPr>
            </a:pPr>
            <a:r>
              <a:t>Phòng ngủ</a:t>
            </a:r>
          </a:p>
          <a:p>
            <a:pPr>
              <a:spcAft>
                <a:spcPts val="1000"/>
              </a:spcAft>
              <a:defRPr sz="1900" b="0">
                <a:solidFill>
                  <a:srgbClr val="15344C"/>
                </a:solidFill>
                <a:latin typeface="DejaVu Sans"/>
              </a:defRPr>
            </a:pPr>
            <a:r>
              <a:t>Phòng tắm</a:t>
            </a:r>
          </a:p>
          <a:p>
            <a:pPr>
              <a:spcAft>
                <a:spcPts val="1000"/>
              </a:spcAft>
              <a:defRPr sz="1900" b="0">
                <a:solidFill>
                  <a:srgbClr val="15344C"/>
                </a:solidFill>
                <a:latin typeface="DejaVu Sans"/>
              </a:defRPr>
            </a:pPr>
            <a:r>
              <a:t>Số giường</a:t>
            </a:r>
          </a:p>
        </p:txBody>
      </p:sp>
      <p:sp>
        <p:nvSpPr>
          <p:cNvPr id="10" name="TextBox 9"/>
          <p:cNvSpPr txBox="1"/>
          <p:nvPr/>
        </p:nvSpPr>
        <p:spPr>
          <a:xfrm>
            <a:off x="9418320" y="1965960"/>
            <a:ext cx="1005840" cy="2606040"/>
          </a:xfrm>
          <a:prstGeom prst="rect">
            <a:avLst/>
          </a:prstGeom>
          <a:noFill/>
        </p:spPr>
        <p:txBody>
          <a:bodyPr wrap="square" lIns="18288" rIns="18288" tIns="18288" bIns="18288">
            <a:spAutoFit/>
          </a:bodyPr>
          <a:lstStyle/>
          <a:p>
            <a:pPr>
              <a:spcAft>
                <a:spcPts val="1000"/>
              </a:spcAft>
              <a:defRPr sz="1900" b="0">
                <a:solidFill>
                  <a:srgbClr val="15344C"/>
                </a:solidFill>
                <a:latin typeface="DejaVu Sans"/>
              </a:defRPr>
            </a:pPr>
            <a:r>
              <a:t>r</a:t>
            </a:r>
          </a:p>
          <a:p>
            <a:pPr>
              <a:spcAft>
                <a:spcPts val="1000"/>
              </a:spcAft>
              <a:defRPr sz="1900" b="0">
                <a:solidFill>
                  <a:srgbClr val="15344C"/>
                </a:solidFill>
                <a:latin typeface="DejaVu Sans"/>
              </a:defRPr>
            </a:pPr>
            <a:r>
              <a:t>0,1067</a:t>
            </a:r>
          </a:p>
          <a:p>
            <a:pPr>
              <a:spcAft>
                <a:spcPts val="1000"/>
              </a:spcAft>
              <a:defRPr sz="1900" b="0">
                <a:solidFill>
                  <a:srgbClr val="15344C"/>
                </a:solidFill>
                <a:latin typeface="DejaVu Sans"/>
              </a:defRPr>
            </a:pPr>
            <a:r>
              <a:t>0,0881</a:t>
            </a:r>
          </a:p>
          <a:p>
            <a:pPr>
              <a:spcAft>
                <a:spcPts val="1000"/>
              </a:spcAft>
              <a:defRPr sz="1900" b="0">
                <a:solidFill>
                  <a:srgbClr val="15344C"/>
                </a:solidFill>
                <a:latin typeface="DejaVu Sans"/>
              </a:defRPr>
            </a:pPr>
            <a:r>
              <a:t>0,0841</a:t>
            </a:r>
          </a:p>
          <a:p>
            <a:pPr>
              <a:spcAft>
                <a:spcPts val="1000"/>
              </a:spcAft>
              <a:defRPr sz="1900" b="0">
                <a:solidFill>
                  <a:srgbClr val="15344C"/>
                </a:solidFill>
                <a:latin typeface="DejaVu Sans"/>
              </a:defRPr>
            </a:pPr>
            <a:r>
              <a:t>0,0688</a:t>
            </a:r>
          </a:p>
        </p:txBody>
      </p:sp>
      <p:sp>
        <p:nvSpPr>
          <p:cNvPr id="11" name="TextBox 10"/>
          <p:cNvSpPr txBox="1"/>
          <p:nvPr/>
        </p:nvSpPr>
        <p:spPr>
          <a:xfrm>
            <a:off x="10561320" y="1965960"/>
            <a:ext cx="1078992" cy="2606040"/>
          </a:xfrm>
          <a:prstGeom prst="rect">
            <a:avLst/>
          </a:prstGeom>
          <a:noFill/>
        </p:spPr>
        <p:txBody>
          <a:bodyPr wrap="square" lIns="18288" rIns="18288" tIns="18288" bIns="18288">
            <a:spAutoFit/>
          </a:bodyPr>
          <a:lstStyle/>
          <a:p>
            <a:pPr>
              <a:spcAft>
                <a:spcPts val="1000"/>
              </a:spcAft>
              <a:defRPr sz="1900" b="0">
                <a:solidFill>
                  <a:srgbClr val="15344C"/>
                </a:solidFill>
                <a:latin typeface="DejaVu Sans"/>
              </a:defRPr>
            </a:pPr>
            <a:r>
              <a:t>n</a:t>
            </a:r>
          </a:p>
          <a:p>
            <a:pPr>
              <a:spcAft>
                <a:spcPts val="1000"/>
              </a:spcAft>
              <a:defRPr sz="1900" b="0">
                <a:solidFill>
                  <a:srgbClr val="15344C"/>
                </a:solidFill>
                <a:latin typeface="DejaVu Sans"/>
              </a:defRPr>
            </a:pPr>
            <a:r>
              <a:t>28.987</a:t>
            </a:r>
          </a:p>
          <a:p>
            <a:pPr>
              <a:spcAft>
                <a:spcPts val="1000"/>
              </a:spcAft>
              <a:defRPr sz="1900" b="0">
                <a:solidFill>
                  <a:srgbClr val="15344C"/>
                </a:solidFill>
                <a:latin typeface="DejaVu Sans"/>
              </a:defRPr>
            </a:pPr>
            <a:r>
              <a:t>25.428</a:t>
            </a:r>
          </a:p>
          <a:p>
            <a:pPr>
              <a:spcAft>
                <a:spcPts val="1000"/>
              </a:spcAft>
              <a:defRPr sz="1900" b="0">
                <a:solidFill>
                  <a:srgbClr val="15344C"/>
                </a:solidFill>
                <a:latin typeface="DejaVu Sans"/>
              </a:defRPr>
            </a:pPr>
            <a:r>
              <a:t>26.286</a:t>
            </a:r>
          </a:p>
          <a:p>
            <a:pPr>
              <a:spcAft>
                <a:spcPts val="1000"/>
              </a:spcAft>
              <a:defRPr sz="1900" b="0">
                <a:solidFill>
                  <a:srgbClr val="15344C"/>
                </a:solidFill>
                <a:latin typeface="DejaVu Sans"/>
              </a:defRPr>
            </a:pPr>
            <a:r>
              <a:t>27.717</a:t>
            </a:r>
          </a:p>
        </p:txBody>
      </p:sp>
      <p:sp>
        <p:nvSpPr>
          <p:cNvPr id="12" name="TextBox 11"/>
          <p:cNvSpPr txBox="1"/>
          <p:nvPr/>
        </p:nvSpPr>
        <p:spPr>
          <a:xfrm>
            <a:off x="7863840" y="4709160"/>
            <a:ext cx="3794760" cy="914400"/>
          </a:xfrm>
          <a:prstGeom prst="rect">
            <a:avLst/>
          </a:prstGeom>
          <a:noFill/>
        </p:spPr>
        <p:txBody>
          <a:bodyPr wrap="square" lIns="18288" rIns="18288" tIns="18288" bIns="18288">
            <a:spAutoFit/>
          </a:bodyPr>
          <a:lstStyle/>
          <a:p>
            <a:pPr>
              <a:spcAft>
                <a:spcPts val="1000"/>
              </a:spcAft>
              <a:defRPr sz="1600" b="0">
                <a:solidFill>
                  <a:srgbClr val="536777"/>
                </a:solidFill>
                <a:latin typeface="DejaVu Sans"/>
              </a:defRPr>
            </a:pPr>
            <a:r>
              <a:t>p lần lượt: 4,268×10⁻⁷⁴; 6,036×10⁻⁴⁵; 1,977×10⁻⁴²; 1,902×10⁻³⁰.</a:t>
            </a:r>
          </a:p>
        </p:txBody>
      </p:sp>
      <p:sp>
        <p:nvSpPr>
          <p:cNvPr id="13" name="TextBox 12"/>
          <p:cNvSpPr txBox="1"/>
          <p:nvPr/>
        </p:nvSpPr>
        <p:spPr>
          <a:xfrm>
            <a:off x="7863840" y="5632704"/>
            <a:ext cx="3794760" cy="521207"/>
          </a:xfrm>
          <a:prstGeom prst="rect">
            <a:avLst/>
          </a:prstGeom>
          <a:noFill/>
        </p:spPr>
        <p:txBody>
          <a:bodyPr wrap="square" lIns="18288" rIns="18288" tIns="18288" bIns="18288">
            <a:spAutoFit/>
          </a:bodyPr>
          <a:lstStyle/>
          <a:p>
            <a:pPr>
              <a:spcAft>
                <a:spcPts val="1000"/>
              </a:spcAft>
              <a:defRPr sz="1700" b="1">
                <a:solidFill>
                  <a:srgbClr val="087E8B"/>
                </a:solidFill>
                <a:latin typeface="DejaVu Sans"/>
              </a:defRPr>
            </a:pPr>
            <a:r>
              <a:t>Không dùng EDA toàn mẫu để chọn biến mô hình.</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0058400" cy="274320"/>
          </a:xfrm>
          <a:prstGeom prst="rect">
            <a:avLst/>
          </a:prstGeom>
          <a:noFill/>
        </p:spPr>
        <p:txBody>
          <a:bodyPr wrap="square" lIns="18288" rIns="18288" tIns="18288" bIns="18288">
            <a:spAutoFit/>
          </a:bodyPr>
          <a:lstStyle/>
          <a:p>
            <a:pPr>
              <a:spcAft>
                <a:spcPts val="1000"/>
              </a:spcAft>
              <a:defRPr sz="1100" b="0">
                <a:solidFill>
                  <a:srgbClr val="536777"/>
                </a:solidFill>
                <a:latin typeface="DejaVu Sans"/>
              </a:defRPr>
            </a:pPr>
            <a:r>
              <a:t>IE313 • NHÓM 10 • AIRBNB BANGKOK</a:t>
            </a:r>
          </a:p>
        </p:txBody>
      </p:sp>
      <p:sp>
        <p:nvSpPr>
          <p:cNvPr id="4" name="TextBox 3"/>
          <p:cNvSpPr txBox="1"/>
          <p:nvPr/>
        </p:nvSpPr>
        <p:spPr>
          <a:xfrm>
            <a:off x="502920" y="768096"/>
            <a:ext cx="11155680" cy="731520"/>
          </a:xfrm>
          <a:prstGeom prst="rect">
            <a:avLst/>
          </a:prstGeom>
          <a:noFill/>
        </p:spPr>
        <p:txBody>
          <a:bodyPr wrap="square" lIns="18288" rIns="18288" tIns="18288" bIns="18288">
            <a:spAutoFit/>
          </a:bodyPr>
          <a:lstStyle/>
          <a:p>
            <a:pPr>
              <a:spcAft>
                <a:spcPts val="1000"/>
              </a:spcAft>
              <a:defRPr sz="2900" b="1">
                <a:solidFill>
                  <a:srgbClr val="15344C"/>
                </a:solidFill>
                <a:latin typeface="DejaVu Sans"/>
              </a:defRPr>
            </a:pPr>
            <a:r>
              <a:t>RQ4 • Khác biệt khu vực trong cùng loại phòng</a:t>
            </a:r>
          </a:p>
        </p:txBody>
      </p:sp>
      <p:sp>
        <p:nvSpPr>
          <p:cNvPr id="5" name="Rectangle 4"/>
          <p:cNvSpPr/>
          <p:nvPr/>
        </p:nvSpPr>
        <p:spPr>
          <a:xfrm>
            <a:off x="502920" y="6291072"/>
            <a:ext cx="11155680" cy="10972"/>
          </a:xfrm>
          <a:prstGeom prst="rect">
            <a:avLst/>
          </a:prstGeom>
          <a:solidFill>
            <a:srgbClr val="CFDB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400800"/>
            <a:ext cx="10607040" cy="292608"/>
          </a:xfrm>
          <a:prstGeom prst="rect">
            <a:avLst/>
          </a:prstGeom>
          <a:noFill/>
        </p:spPr>
        <p:txBody>
          <a:bodyPr wrap="square" lIns="18288" rIns="18288" tIns="18288" bIns="18288">
            <a:spAutoFit/>
          </a:bodyPr>
          <a:lstStyle/>
          <a:p>
            <a:pPr>
              <a:spcAft>
                <a:spcPts val="1000"/>
              </a:spcAft>
              <a:defRPr sz="900" b="0">
                <a:solidFill>
                  <a:srgbClr val="536777"/>
                </a:solidFill>
                <a:latin typeface="DejaVu Sans"/>
              </a:defRPr>
            </a:pPr>
            <a:r>
              <a:t>Nguồn: reports/stats/rq4_neighbourhood_* • fig4_price_top_neighbourhoods_bar.png</a:t>
            </a:r>
          </a:p>
        </p:txBody>
      </p:sp>
      <p:sp>
        <p:nvSpPr>
          <p:cNvPr id="7" name="TextBox 6"/>
          <p:cNvSpPr txBox="1"/>
          <p:nvPr/>
        </p:nvSpPr>
        <p:spPr>
          <a:xfrm>
            <a:off x="11109960" y="6400800"/>
            <a:ext cx="548640" cy="274320"/>
          </a:xfrm>
          <a:prstGeom prst="rect">
            <a:avLst/>
          </a:prstGeom>
          <a:noFill/>
        </p:spPr>
        <p:txBody>
          <a:bodyPr wrap="square" lIns="18288" rIns="18288" tIns="18288" bIns="18288">
            <a:spAutoFit/>
          </a:bodyPr>
          <a:lstStyle/>
          <a:p>
            <a:pPr>
              <a:spcAft>
                <a:spcPts val="1000"/>
              </a:spcAft>
              <a:defRPr sz="1000" b="1">
                <a:solidFill>
                  <a:srgbClr val="087E8B"/>
                </a:solidFill>
                <a:latin typeface="DejaVu Sans"/>
              </a:defRPr>
            </a:pPr>
            <a:r>
              <a:t>08</a:t>
            </a:r>
          </a:p>
        </p:txBody>
      </p:sp>
      <p:pic>
        <p:nvPicPr>
          <p:cNvPr id="8" name="Picture 7" descr="fig4_price_top_neighbourhoods_bar.png"/>
          <p:cNvPicPr>
            <a:picLocks noChangeAspect="1"/>
          </p:cNvPicPr>
          <p:nvPr/>
        </p:nvPicPr>
        <p:blipFill>
          <a:blip r:embed="rId3"/>
          <a:stretch>
            <a:fillRect/>
          </a:stretch>
        </p:blipFill>
        <p:spPr>
          <a:xfrm>
            <a:off x="1427480" y="1645920"/>
            <a:ext cx="6471920" cy="4480560"/>
          </a:xfrm>
          <a:prstGeom prst="rect">
            <a:avLst/>
          </a:prstGeom>
        </p:spPr>
      </p:pic>
      <p:sp>
        <p:nvSpPr>
          <p:cNvPr id="9" name="TextBox 8"/>
          <p:cNvSpPr txBox="1"/>
          <p:nvPr/>
        </p:nvSpPr>
        <p:spPr>
          <a:xfrm>
            <a:off x="9052560" y="1874519"/>
            <a:ext cx="2651760" cy="1051560"/>
          </a:xfrm>
          <a:prstGeom prst="rect">
            <a:avLst/>
          </a:prstGeom>
          <a:noFill/>
        </p:spPr>
        <p:txBody>
          <a:bodyPr wrap="square" lIns="18288" rIns="18288" tIns="18288" bIns="18288">
            <a:spAutoFit/>
          </a:bodyPr>
          <a:lstStyle/>
          <a:p>
            <a:pPr>
              <a:spcAft>
                <a:spcPts val="1000"/>
              </a:spcAft>
              <a:defRPr sz="2500" b="1">
                <a:solidFill>
                  <a:srgbClr val="087E8B"/>
                </a:solidFill>
                <a:latin typeface="DejaVu Sans"/>
              </a:defRPr>
            </a:pPr>
            <a:r>
              <a:t>678,03 → 3.115,50</a:t>
            </a:r>
          </a:p>
        </p:txBody>
      </p:sp>
      <p:sp>
        <p:nvSpPr>
          <p:cNvPr id="10" name="TextBox 9"/>
          <p:cNvSpPr txBox="1"/>
          <p:nvPr/>
        </p:nvSpPr>
        <p:spPr>
          <a:xfrm>
            <a:off x="9052560" y="3127248"/>
            <a:ext cx="2651760" cy="2834640"/>
          </a:xfrm>
          <a:prstGeom prst="rect">
            <a:avLst/>
          </a:prstGeom>
          <a:noFill/>
        </p:spPr>
        <p:txBody>
          <a:bodyPr wrap="square" lIns="18288" rIns="18288" tIns="18288" bIns="18288">
            <a:spAutoFit/>
          </a:bodyPr>
          <a:lstStyle/>
          <a:p>
            <a:pPr>
              <a:spcAft>
                <a:spcPts val="1000"/>
              </a:spcAft>
              <a:defRPr sz="1900" b="0">
                <a:solidFill>
                  <a:srgbClr val="15344C"/>
                </a:solidFill>
                <a:latin typeface="DejaVu Sans"/>
              </a:defRPr>
            </a:pPr>
            <a:r>
              <a:t>THB/đêm</a:t>
            </a:r>
          </a:p>
          <a:p>
            <a:pPr>
              <a:spcAft>
                <a:spcPts val="1000"/>
              </a:spcAft>
              <a:defRPr sz="1900" b="0">
                <a:solidFill>
                  <a:srgbClr val="15344C"/>
                </a:solidFill>
                <a:latin typeface="DejaVu Sans"/>
              </a:defRPr>
            </a:pPr>
            <a:r>
              <a:t>Bang Phlat → Samphanthawong</a:t>
            </a:r>
          </a:p>
          <a:p>
            <a:pPr>
              <a:spcAft>
                <a:spcPts val="1000"/>
              </a:spcAft>
              <a:defRPr sz="1900" b="0">
                <a:solidFill>
                  <a:srgbClr val="15344C"/>
                </a:solidFill>
                <a:latin typeface="DejaVu Sans"/>
              </a:defRPr>
            </a:pPr>
            <a:r>
              <a:t>Cùng Entire home/apt</a:t>
            </a:r>
          </a:p>
          <a:p>
            <a:pPr>
              <a:spcAft>
                <a:spcPts val="1000"/>
              </a:spcAft>
              <a:defRPr sz="1900" b="0">
                <a:solidFill>
                  <a:srgbClr val="15344C"/>
                </a:solidFill>
                <a:latin typeface="DejaVu Sans"/>
              </a:defRPr>
            </a:pPr>
            <a:r>
              <a:t>n≥20: chỉ để chọn nhóm hiển thị.</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0058400" cy="274320"/>
          </a:xfrm>
          <a:prstGeom prst="rect">
            <a:avLst/>
          </a:prstGeom>
          <a:noFill/>
        </p:spPr>
        <p:txBody>
          <a:bodyPr wrap="square" lIns="18288" rIns="18288" tIns="18288" bIns="18288">
            <a:spAutoFit/>
          </a:bodyPr>
          <a:lstStyle/>
          <a:p>
            <a:pPr>
              <a:spcAft>
                <a:spcPts val="1000"/>
              </a:spcAft>
              <a:defRPr sz="1100" b="0">
                <a:solidFill>
                  <a:srgbClr val="536777"/>
                </a:solidFill>
                <a:latin typeface="DejaVu Sans"/>
              </a:defRPr>
            </a:pPr>
            <a:r>
              <a:t>IE313 • NHÓM 10 • AIRBNB BANGKOK</a:t>
            </a:r>
          </a:p>
        </p:txBody>
      </p:sp>
      <p:sp>
        <p:nvSpPr>
          <p:cNvPr id="4" name="TextBox 3"/>
          <p:cNvSpPr txBox="1"/>
          <p:nvPr/>
        </p:nvSpPr>
        <p:spPr>
          <a:xfrm>
            <a:off x="502920" y="768096"/>
            <a:ext cx="11155680" cy="731520"/>
          </a:xfrm>
          <a:prstGeom prst="rect">
            <a:avLst/>
          </a:prstGeom>
          <a:noFill/>
        </p:spPr>
        <p:txBody>
          <a:bodyPr wrap="square" lIns="18288" rIns="18288" tIns="18288" bIns="18288">
            <a:spAutoFit/>
          </a:bodyPr>
          <a:lstStyle/>
          <a:p>
            <a:pPr>
              <a:spcAft>
                <a:spcPts val="1000"/>
              </a:spcAft>
              <a:defRPr sz="2900" b="1">
                <a:solidFill>
                  <a:srgbClr val="15344C"/>
                </a:solidFill>
                <a:latin typeface="DejaVu Sans"/>
              </a:defRPr>
            </a:pPr>
            <a:r>
              <a:t>Hồi quy: chưa có biến qua chính sách lựa chọn</a:t>
            </a:r>
          </a:p>
        </p:txBody>
      </p:sp>
      <p:sp>
        <p:nvSpPr>
          <p:cNvPr id="5" name="Rectangle 4"/>
          <p:cNvSpPr/>
          <p:nvPr/>
        </p:nvSpPr>
        <p:spPr>
          <a:xfrm>
            <a:off x="502920" y="6291072"/>
            <a:ext cx="11155680" cy="10972"/>
          </a:xfrm>
          <a:prstGeom prst="rect">
            <a:avLst/>
          </a:prstGeom>
          <a:solidFill>
            <a:srgbClr val="CFDB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400800"/>
            <a:ext cx="10607040" cy="292608"/>
          </a:xfrm>
          <a:prstGeom prst="rect">
            <a:avLst/>
          </a:prstGeom>
          <a:noFill/>
        </p:spPr>
        <p:txBody>
          <a:bodyPr wrap="square" lIns="18288" rIns="18288" tIns="18288" bIns="18288">
            <a:spAutoFit/>
          </a:bodyPr>
          <a:lstStyle/>
          <a:p>
            <a:pPr>
              <a:spcAft>
                <a:spcPts val="1000"/>
              </a:spcAft>
              <a:defRPr sz="900" b="0">
                <a:solidFill>
                  <a:srgbClr val="536777"/>
                </a:solidFill>
                <a:latin typeface="DejaVu Sans"/>
              </a:defRPr>
            </a:pPr>
            <a:r>
              <a:t>Nguồn: reports/modeling/feature_selection.json • model_comparison.csv • notebook 04</a:t>
            </a:r>
          </a:p>
        </p:txBody>
      </p:sp>
      <p:sp>
        <p:nvSpPr>
          <p:cNvPr id="7" name="TextBox 6"/>
          <p:cNvSpPr txBox="1"/>
          <p:nvPr/>
        </p:nvSpPr>
        <p:spPr>
          <a:xfrm>
            <a:off x="11109960" y="6400800"/>
            <a:ext cx="548640" cy="274320"/>
          </a:xfrm>
          <a:prstGeom prst="rect">
            <a:avLst/>
          </a:prstGeom>
          <a:noFill/>
        </p:spPr>
        <p:txBody>
          <a:bodyPr wrap="square" lIns="18288" rIns="18288" tIns="18288" bIns="18288">
            <a:spAutoFit/>
          </a:bodyPr>
          <a:lstStyle/>
          <a:p>
            <a:pPr>
              <a:spcAft>
                <a:spcPts val="1000"/>
              </a:spcAft>
              <a:defRPr sz="1000" b="1">
                <a:solidFill>
                  <a:srgbClr val="087E8B"/>
                </a:solidFill>
                <a:latin typeface="DejaVu Sans"/>
              </a:defRPr>
            </a:pPr>
            <a:r>
              <a:t>09</a:t>
            </a:r>
          </a:p>
        </p:txBody>
      </p:sp>
      <p:sp>
        <p:nvSpPr>
          <p:cNvPr id="8" name="Rectangle 7"/>
          <p:cNvSpPr/>
          <p:nvPr/>
        </p:nvSpPr>
        <p:spPr>
          <a:xfrm>
            <a:off x="548640" y="1783080"/>
            <a:ext cx="3611880" cy="1645920"/>
          </a:xfrm>
          <a:prstGeom prst="rect">
            <a:avLst/>
          </a:prstGeom>
          <a:solidFill>
            <a:srgbClr val="EE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1901952"/>
            <a:ext cx="3282696" cy="384048"/>
          </a:xfrm>
          <a:prstGeom prst="rect">
            <a:avLst/>
          </a:prstGeom>
          <a:noFill/>
        </p:spPr>
        <p:txBody>
          <a:bodyPr wrap="square" lIns="18288" rIns="18288" tIns="18288" bIns="18288">
            <a:spAutoFit/>
          </a:bodyPr>
          <a:lstStyle/>
          <a:p>
            <a:pPr>
              <a:spcAft>
                <a:spcPts val="1000"/>
              </a:spcAft>
              <a:defRPr sz="2300" b="1">
                <a:solidFill>
                  <a:srgbClr val="087E8B"/>
                </a:solidFill>
                <a:latin typeface="DejaVu Sans"/>
              </a:defRPr>
            </a:pPr>
            <a:r>
              <a:t>20.290 / 8.697</a:t>
            </a:r>
          </a:p>
        </p:txBody>
      </p:sp>
      <p:sp>
        <p:nvSpPr>
          <p:cNvPr id="10" name="TextBox 9"/>
          <p:cNvSpPr txBox="1"/>
          <p:nvPr/>
        </p:nvSpPr>
        <p:spPr>
          <a:xfrm>
            <a:off x="713232" y="2423160"/>
            <a:ext cx="3282696" cy="932688"/>
          </a:xfrm>
          <a:prstGeom prst="rect">
            <a:avLst/>
          </a:prstGeom>
          <a:noFill/>
        </p:spPr>
        <p:txBody>
          <a:bodyPr wrap="square" lIns="18288" rIns="18288" tIns="18288" bIns="18288">
            <a:spAutoFit/>
          </a:bodyPr>
          <a:lstStyle/>
          <a:p>
            <a:pPr>
              <a:spcAft>
                <a:spcPts val="1000"/>
              </a:spcAft>
              <a:defRPr sz="1700" b="0">
                <a:solidFill>
                  <a:srgbClr val="15344C"/>
                </a:solidFill>
                <a:latin typeface="DejaVu Sans"/>
              </a:defRPr>
            </a:pPr>
            <a:r>
              <a:t>Train / test • seed 42</a:t>
            </a:r>
          </a:p>
          <a:p>
            <a:pPr>
              <a:spcAft>
                <a:spcPts val="1000"/>
              </a:spcAft>
              <a:defRPr sz="1700" b="0">
                <a:solidFill>
                  <a:srgbClr val="15344C"/>
                </a:solidFill>
                <a:latin typeface="DejaVu Sans"/>
              </a:defRPr>
            </a:pPr>
            <a:r>
              <a:t>CV 4-fold trên train</a:t>
            </a:r>
          </a:p>
        </p:txBody>
      </p:sp>
      <p:sp>
        <p:nvSpPr>
          <p:cNvPr id="11" name="Rectangle 10"/>
          <p:cNvSpPr/>
          <p:nvPr/>
        </p:nvSpPr>
        <p:spPr>
          <a:xfrm>
            <a:off x="4297680" y="1783080"/>
            <a:ext cx="3611880" cy="1645920"/>
          </a:xfrm>
          <a:prstGeom prst="rect">
            <a:avLst/>
          </a:prstGeom>
          <a:solidFill>
            <a:srgbClr val="EE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62272" y="1901952"/>
            <a:ext cx="3282696" cy="384048"/>
          </a:xfrm>
          <a:prstGeom prst="rect">
            <a:avLst/>
          </a:prstGeom>
          <a:noFill/>
        </p:spPr>
        <p:txBody>
          <a:bodyPr wrap="square" lIns="18288" rIns="18288" tIns="18288" bIns="18288">
            <a:spAutoFit/>
          </a:bodyPr>
          <a:lstStyle/>
          <a:p>
            <a:pPr>
              <a:spcAft>
                <a:spcPts val="1000"/>
              </a:spcAft>
              <a:defRPr sz="2300" b="1">
                <a:solidFill>
                  <a:srgbClr val="087E8B"/>
                </a:solidFill>
                <a:latin typeface="DejaVu Sans"/>
              </a:defRPr>
            </a:pPr>
            <a:r>
              <a:t>0 biến số đạt</a:t>
            </a:r>
          </a:p>
        </p:txBody>
      </p:sp>
      <p:sp>
        <p:nvSpPr>
          <p:cNvPr id="13" name="TextBox 12"/>
          <p:cNvSpPr txBox="1"/>
          <p:nvPr/>
        </p:nvSpPr>
        <p:spPr>
          <a:xfrm>
            <a:off x="4462272" y="2423160"/>
            <a:ext cx="3282696" cy="932688"/>
          </a:xfrm>
          <a:prstGeom prst="rect">
            <a:avLst/>
          </a:prstGeom>
          <a:noFill/>
        </p:spPr>
        <p:txBody>
          <a:bodyPr wrap="square" lIns="18288" rIns="18288" tIns="18288" bIns="18288">
            <a:spAutoFit/>
          </a:bodyPr>
          <a:lstStyle/>
          <a:p>
            <a:pPr>
              <a:spcAft>
                <a:spcPts val="1000"/>
              </a:spcAft>
              <a:defRPr sz="1700" b="0">
                <a:solidFill>
                  <a:srgbClr val="15344C"/>
                </a:solidFill>
                <a:latin typeface="DejaVu Sans"/>
              </a:defRPr>
            </a:pPr>
            <a:r>
              <a:t>|r|≥0,30 và p&lt;0,05</a:t>
            </a:r>
          </a:p>
          <a:p>
            <a:pPr>
              <a:spcAft>
                <a:spcPts val="1000"/>
              </a:spcAft>
              <a:defRPr sz="1700" b="0">
                <a:solidFill>
                  <a:srgbClr val="15344C"/>
                </a:solidFill>
                <a:latin typeface="DejaVu Sans"/>
              </a:defRPr>
            </a:pPr>
            <a:r>
              <a:t>Kiểm tra từng training fold</a:t>
            </a:r>
          </a:p>
        </p:txBody>
      </p:sp>
      <p:sp>
        <p:nvSpPr>
          <p:cNvPr id="14" name="Rectangle 13"/>
          <p:cNvSpPr/>
          <p:nvPr/>
        </p:nvSpPr>
        <p:spPr>
          <a:xfrm>
            <a:off x="8046720" y="1783080"/>
            <a:ext cx="3611880" cy="1645920"/>
          </a:xfrm>
          <a:prstGeom prst="rect">
            <a:avLst/>
          </a:prstGeom>
          <a:solidFill>
            <a:srgbClr val="EE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1901952"/>
            <a:ext cx="3282696" cy="384048"/>
          </a:xfrm>
          <a:prstGeom prst="rect">
            <a:avLst/>
          </a:prstGeom>
          <a:noFill/>
        </p:spPr>
        <p:txBody>
          <a:bodyPr wrap="square" lIns="18288" rIns="18288" tIns="18288" bIns="18288">
            <a:spAutoFit/>
          </a:bodyPr>
          <a:lstStyle/>
          <a:p>
            <a:pPr>
              <a:spcAft>
                <a:spcPts val="1000"/>
              </a:spcAft>
              <a:defRPr sz="2300" b="1">
                <a:solidFill>
                  <a:srgbClr val="087E8B"/>
                </a:solidFill>
                <a:latin typeface="DejaVu Sans"/>
              </a:defRPr>
            </a:pPr>
            <a:r>
              <a:t>ANOVA làm bộ lọc</a:t>
            </a:r>
          </a:p>
        </p:txBody>
      </p:sp>
      <p:sp>
        <p:nvSpPr>
          <p:cNvPr id="16" name="TextBox 15"/>
          <p:cNvSpPr txBox="1"/>
          <p:nvPr/>
        </p:nvSpPr>
        <p:spPr>
          <a:xfrm>
            <a:off x="8211312" y="2423160"/>
            <a:ext cx="3282696" cy="932688"/>
          </a:xfrm>
          <a:prstGeom prst="rect">
            <a:avLst/>
          </a:prstGeom>
          <a:noFill/>
        </p:spPr>
        <p:txBody>
          <a:bodyPr wrap="square" lIns="18288" rIns="18288" tIns="18288" bIns="18288">
            <a:spAutoFit/>
          </a:bodyPr>
          <a:lstStyle/>
          <a:p>
            <a:pPr>
              <a:spcAft>
                <a:spcPts val="1000"/>
              </a:spcAft>
              <a:defRPr sz="1700" b="0">
                <a:solidFill>
                  <a:srgbClr val="15344C"/>
                </a:solidFill>
                <a:latin typeface="DejaVu Sans"/>
              </a:defRPr>
            </a:pPr>
            <a:r>
              <a:t>Chưa xác nhận điều kiện</a:t>
            </a:r>
          </a:p>
          <a:p>
            <a:pPr>
              <a:spcAft>
                <a:spcPts val="1000"/>
              </a:spcAft>
              <a:defRPr sz="1700" b="0">
                <a:solidFill>
                  <a:srgbClr val="15344C"/>
                </a:solidFill>
                <a:latin typeface="DejaVu Sans"/>
              </a:defRPr>
            </a:pPr>
            <a:r>
              <a:t>Lưu chẩn đoán thực từng fold</a:t>
            </a:r>
          </a:p>
        </p:txBody>
      </p:sp>
      <p:sp>
        <p:nvSpPr>
          <p:cNvPr id="17" name="TextBox 16"/>
          <p:cNvSpPr txBox="1"/>
          <p:nvPr/>
        </p:nvSpPr>
        <p:spPr>
          <a:xfrm>
            <a:off x="685800" y="3858768"/>
            <a:ext cx="10972800" cy="1143000"/>
          </a:xfrm>
          <a:prstGeom prst="rect">
            <a:avLst/>
          </a:prstGeom>
          <a:noFill/>
        </p:spPr>
        <p:txBody>
          <a:bodyPr wrap="square" lIns="18288" rIns="18288" tIns="18288" bIns="18288">
            <a:spAutoFit/>
          </a:bodyPr>
          <a:lstStyle/>
          <a:p>
            <a:pPr>
              <a:spcAft>
                <a:spcPts val="1000"/>
              </a:spcAft>
              <a:defRPr sz="2500" b="1">
                <a:solidFill>
                  <a:srgbClr val="087E8B"/>
                </a:solidFill>
                <a:latin typeface="DejaVu Sans"/>
              </a:defRPr>
            </a:pPr>
            <a:r>
              <a:t>Mốc trung bình train: 2.976,12 THB/đêm</a:t>
            </a:r>
          </a:p>
          <a:p>
            <a:pPr>
              <a:spcAft>
                <a:spcPts val="1000"/>
              </a:spcAft>
              <a:defRPr sz="2500" b="1">
                <a:solidFill>
                  <a:srgbClr val="087E8B"/>
                </a:solidFill>
                <a:latin typeface="DejaVu Sans"/>
              </a:defRPr>
            </a:pPr>
            <a:r>
              <a:t>Test MSE = 315.021.203,83 THB² • R² = −0,000014334</a:t>
            </a:r>
          </a:p>
        </p:txBody>
      </p:sp>
      <p:sp>
        <p:nvSpPr>
          <p:cNvPr id="18" name="TextBox 17"/>
          <p:cNvSpPr txBox="1"/>
          <p:nvPr/>
        </p:nvSpPr>
        <p:spPr>
          <a:xfrm>
            <a:off x="685800" y="5330952"/>
            <a:ext cx="10972800" cy="859536"/>
          </a:xfrm>
          <a:prstGeom prst="rect">
            <a:avLst/>
          </a:prstGeom>
          <a:noFill/>
        </p:spPr>
        <p:txBody>
          <a:bodyPr wrap="square" lIns="18288" rIns="18288" tIns="18288" bIns="18288">
            <a:spAutoFit/>
          </a:bodyPr>
          <a:lstStyle/>
          <a:p>
            <a:pPr>
              <a:spcAft>
                <a:spcPts val="1000"/>
              </a:spcAft>
              <a:defRPr sz="2000" b="0">
                <a:solidFill>
                  <a:srgbClr val="15344C"/>
                </a:solidFill>
                <a:latin typeface="DejaVu Sans"/>
              </a:defRPr>
            </a:pPr>
            <a:r>
              <a:t>Đây là giới hạn của chính sách chọn biến hiện tại.</a:t>
            </a:r>
          </a:p>
          <a:p>
            <a:pPr>
              <a:spcAft>
                <a:spcPts val="1000"/>
              </a:spcAft>
              <a:defRPr sz="2000" b="0">
                <a:solidFill>
                  <a:srgbClr val="15344C"/>
                </a:solidFill>
                <a:latin typeface="DejaVu Sans"/>
              </a:defRPr>
            </a:pPr>
            <a:r>
              <a:t>82,81% listing test thuộc host đã xuất hiện ở train; chưa đánh giá host mới.</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0058400" cy="274320"/>
          </a:xfrm>
          <a:prstGeom prst="rect">
            <a:avLst/>
          </a:prstGeom>
          <a:noFill/>
        </p:spPr>
        <p:txBody>
          <a:bodyPr wrap="square" lIns="18288" rIns="18288" tIns="18288" bIns="18288">
            <a:spAutoFit/>
          </a:bodyPr>
          <a:lstStyle/>
          <a:p>
            <a:pPr>
              <a:spcAft>
                <a:spcPts val="1000"/>
              </a:spcAft>
              <a:defRPr sz="1100" b="0">
                <a:solidFill>
                  <a:srgbClr val="536777"/>
                </a:solidFill>
                <a:latin typeface="DejaVu Sans"/>
              </a:defRPr>
            </a:pPr>
            <a:r>
              <a:t>IE313 • NHÓM 10 • AIRBNB BANGKOK</a:t>
            </a:r>
          </a:p>
        </p:txBody>
      </p:sp>
      <p:sp>
        <p:nvSpPr>
          <p:cNvPr id="4" name="TextBox 3"/>
          <p:cNvSpPr txBox="1"/>
          <p:nvPr/>
        </p:nvSpPr>
        <p:spPr>
          <a:xfrm>
            <a:off x="502920" y="768096"/>
            <a:ext cx="11155680" cy="731520"/>
          </a:xfrm>
          <a:prstGeom prst="rect">
            <a:avLst/>
          </a:prstGeom>
          <a:noFill/>
        </p:spPr>
        <p:txBody>
          <a:bodyPr wrap="square" lIns="18288" rIns="18288" tIns="18288" bIns="18288">
            <a:spAutoFit/>
          </a:bodyPr>
          <a:lstStyle/>
          <a:p>
            <a:pPr>
              <a:spcAft>
                <a:spcPts val="1000"/>
              </a:spcAft>
              <a:defRPr sz="2900" b="1">
                <a:solidFill>
                  <a:srgbClr val="15344C"/>
                </a:solidFill>
                <a:latin typeface="DejaVu Sans"/>
              </a:defRPr>
            </a:pPr>
            <a:r>
              <a:t>Kết quả và giới hạn cần giữ khi diễn giải</a:t>
            </a:r>
          </a:p>
        </p:txBody>
      </p:sp>
      <p:sp>
        <p:nvSpPr>
          <p:cNvPr id="5" name="Rectangle 4"/>
          <p:cNvSpPr/>
          <p:nvPr/>
        </p:nvSpPr>
        <p:spPr>
          <a:xfrm>
            <a:off x="502920" y="6291072"/>
            <a:ext cx="11155680" cy="10972"/>
          </a:xfrm>
          <a:prstGeom prst="rect">
            <a:avLst/>
          </a:prstGeom>
          <a:solidFill>
            <a:srgbClr val="CFDB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400800"/>
            <a:ext cx="10607040" cy="292608"/>
          </a:xfrm>
          <a:prstGeom prst="rect">
            <a:avLst/>
          </a:prstGeom>
          <a:noFill/>
        </p:spPr>
        <p:txBody>
          <a:bodyPr wrap="square" lIns="18288" rIns="18288" tIns="18288" bIns="18288">
            <a:spAutoFit/>
          </a:bodyPr>
          <a:lstStyle/>
          <a:p>
            <a:pPr>
              <a:spcAft>
                <a:spcPts val="1000"/>
              </a:spcAft>
              <a:defRPr sz="900" b="0">
                <a:solidFill>
                  <a:srgbClr val="536777"/>
                </a:solidFill>
                <a:latin typeface="DejaVu Sans"/>
              </a:defRPr>
            </a:pPr>
            <a:r>
              <a:t>Nguồn: báo cáo Word, mục Kết quả phân tích / Kết luận • Phần trình bày: 10 phút</a:t>
            </a:r>
          </a:p>
        </p:txBody>
      </p:sp>
      <p:sp>
        <p:nvSpPr>
          <p:cNvPr id="7" name="TextBox 6"/>
          <p:cNvSpPr txBox="1"/>
          <p:nvPr/>
        </p:nvSpPr>
        <p:spPr>
          <a:xfrm>
            <a:off x="11109960" y="6400800"/>
            <a:ext cx="548640" cy="274320"/>
          </a:xfrm>
          <a:prstGeom prst="rect">
            <a:avLst/>
          </a:prstGeom>
          <a:noFill/>
        </p:spPr>
        <p:txBody>
          <a:bodyPr wrap="square" lIns="18288" rIns="18288" tIns="18288" bIns="18288">
            <a:spAutoFit/>
          </a:bodyPr>
          <a:lstStyle/>
          <a:p>
            <a:pPr>
              <a:spcAft>
                <a:spcPts val="1000"/>
              </a:spcAft>
              <a:defRPr sz="1000" b="1">
                <a:solidFill>
                  <a:srgbClr val="087E8B"/>
                </a:solidFill>
                <a:latin typeface="DejaVu Sans"/>
              </a:defRPr>
            </a:pPr>
            <a:r>
              <a:t>10</a:t>
            </a:r>
          </a:p>
        </p:txBody>
      </p:sp>
      <p:sp>
        <p:nvSpPr>
          <p:cNvPr id="8" name="TextBox 7"/>
          <p:cNvSpPr txBox="1"/>
          <p:nvPr/>
        </p:nvSpPr>
        <p:spPr>
          <a:xfrm>
            <a:off x="658368" y="1810512"/>
            <a:ext cx="10972800" cy="2743200"/>
          </a:xfrm>
          <a:prstGeom prst="rect">
            <a:avLst/>
          </a:prstGeom>
          <a:noFill/>
        </p:spPr>
        <p:txBody>
          <a:bodyPr wrap="square" lIns="18288" rIns="18288" tIns="18288" bIns="18288">
            <a:spAutoFit/>
          </a:bodyPr>
          <a:lstStyle/>
          <a:p>
            <a:pPr>
              <a:spcAft>
                <a:spcPts val="1000"/>
              </a:spcAft>
              <a:defRPr sz="2500" b="0">
                <a:solidFill>
                  <a:srgbClr val="15344C"/>
                </a:solidFill>
                <a:latin typeface="DejaVu Sans"/>
              </a:defRPr>
            </a:pPr>
            <a:r>
              <a:t>Giá lệch phải → đọc median cùng IQR.</a:t>
            </a:r>
          </a:p>
          <a:p>
            <a:pPr>
              <a:spcAft>
                <a:spcPts val="1000"/>
              </a:spcAft>
              <a:defRPr sz="2500" b="0">
                <a:solidFill>
                  <a:srgbClr val="15344C"/>
                </a:solidFill>
                <a:latin typeface="DejaVu Sans"/>
              </a:defRPr>
            </a:pPr>
            <a:r>
              <a:t>Loại phòng khác nhau → so sánh đúng phân khúc.</a:t>
            </a:r>
          </a:p>
          <a:p>
            <a:pPr>
              <a:spcAft>
                <a:spcPts val="1000"/>
              </a:spcAft>
              <a:defRPr sz="2500" b="0">
                <a:solidFill>
                  <a:srgbClr val="15344C"/>
                </a:solidFill>
                <a:latin typeface="DejaVu Sans"/>
              </a:defRPr>
            </a:pPr>
            <a:r>
              <a:t>Quy mô–giá có r nhỏ → p nhỏ không thay thế độ lớn liên hệ.</a:t>
            </a:r>
          </a:p>
          <a:p>
            <a:pPr>
              <a:spcAft>
                <a:spcPts val="1000"/>
              </a:spcAft>
              <a:defRPr sz="2500" b="0">
                <a:solidFill>
                  <a:srgbClr val="15344C"/>
                </a:solidFill>
                <a:latin typeface="DejaVu Sans"/>
              </a:defRPr>
            </a:pPr>
            <a:r>
              <a:t>Khu vực khác nhau → đối chiếu trong cùng loại phòng.</a:t>
            </a:r>
          </a:p>
        </p:txBody>
      </p:sp>
      <p:sp>
        <p:nvSpPr>
          <p:cNvPr id="9" name="Rectangle 8"/>
          <p:cNvSpPr/>
          <p:nvPr/>
        </p:nvSpPr>
        <p:spPr>
          <a:xfrm>
            <a:off x="548640" y="4892040"/>
            <a:ext cx="11064240" cy="1097280"/>
          </a:xfrm>
          <a:prstGeom prst="rect">
            <a:avLst/>
          </a:prstGeom>
          <a:solidFill>
            <a:srgbClr val="EE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5074920"/>
            <a:ext cx="10652760" cy="841248"/>
          </a:xfrm>
          <a:prstGeom prst="rect">
            <a:avLst/>
          </a:prstGeom>
          <a:noFill/>
        </p:spPr>
        <p:txBody>
          <a:bodyPr wrap="square" lIns="18288" rIns="18288" tIns="18288" bIns="18288">
            <a:spAutoFit/>
          </a:bodyPr>
          <a:lstStyle/>
          <a:p>
            <a:pPr>
              <a:spcAft>
                <a:spcPts val="1000"/>
              </a:spcAft>
              <a:defRPr sz="2100" b="0">
                <a:solidFill>
                  <a:srgbClr val="15344C"/>
                </a:solidFill>
                <a:latin typeface="DejaVu Sans"/>
              </a:defRPr>
            </a:pPr>
            <a:r>
              <a:t>Giới hạn: một snapshot, missing predictor, cực trị chưa xác minh, phụ thuộc theo host và thuế/phí chưa đầy đủ. Không suy ra nhân quả.</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0058400" cy="274320"/>
          </a:xfrm>
          <a:prstGeom prst="rect">
            <a:avLst/>
          </a:prstGeom>
          <a:noFill/>
        </p:spPr>
        <p:txBody>
          <a:bodyPr wrap="square" lIns="18288" rIns="18288" tIns="18288" bIns="18288">
            <a:spAutoFit/>
          </a:bodyPr>
          <a:lstStyle/>
          <a:p>
            <a:pPr>
              <a:spcAft>
                <a:spcPts val="1000"/>
              </a:spcAft>
              <a:defRPr sz="1100" b="0">
                <a:solidFill>
                  <a:srgbClr val="536777"/>
                </a:solidFill>
                <a:latin typeface="DejaVu Sans"/>
              </a:defRPr>
            </a:pPr>
            <a:r>
              <a:t>IE313 • NHÓM 10 • AIRBNB BANGKOK</a:t>
            </a:r>
          </a:p>
        </p:txBody>
      </p:sp>
      <p:sp>
        <p:nvSpPr>
          <p:cNvPr id="4" name="TextBox 3"/>
          <p:cNvSpPr txBox="1"/>
          <p:nvPr/>
        </p:nvSpPr>
        <p:spPr>
          <a:xfrm>
            <a:off x="502920" y="768096"/>
            <a:ext cx="11155680" cy="731520"/>
          </a:xfrm>
          <a:prstGeom prst="rect">
            <a:avLst/>
          </a:prstGeom>
          <a:noFill/>
        </p:spPr>
        <p:txBody>
          <a:bodyPr wrap="square" lIns="18288" rIns="18288" tIns="18288" bIns="18288">
            <a:spAutoFit/>
          </a:bodyPr>
          <a:lstStyle/>
          <a:p>
            <a:pPr>
              <a:spcAft>
                <a:spcPts val="1000"/>
              </a:spcAft>
              <a:defRPr sz="2900" b="1">
                <a:solidFill>
                  <a:srgbClr val="15344C"/>
                </a:solidFill>
                <a:latin typeface="DejaVu Sans"/>
              </a:defRPr>
            </a:pPr>
            <a:r>
              <a:t>Demo 5 phút • Từ nguồn đến kết quả</a:t>
            </a:r>
          </a:p>
        </p:txBody>
      </p:sp>
      <p:sp>
        <p:nvSpPr>
          <p:cNvPr id="5" name="Rectangle 4"/>
          <p:cNvSpPr/>
          <p:nvPr/>
        </p:nvSpPr>
        <p:spPr>
          <a:xfrm>
            <a:off x="502920" y="6291072"/>
            <a:ext cx="11155680" cy="10972"/>
          </a:xfrm>
          <a:prstGeom prst="rect">
            <a:avLst/>
          </a:prstGeom>
          <a:solidFill>
            <a:srgbClr val="CFDB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400800"/>
            <a:ext cx="10607040" cy="292608"/>
          </a:xfrm>
          <a:prstGeom prst="rect">
            <a:avLst/>
          </a:prstGeom>
          <a:noFill/>
        </p:spPr>
        <p:txBody>
          <a:bodyPr wrap="square" lIns="18288" rIns="18288" tIns="18288" bIns="18288">
            <a:spAutoFit/>
          </a:bodyPr>
          <a:lstStyle/>
          <a:p>
            <a:pPr>
              <a:spcAft>
                <a:spcPts val="1000"/>
              </a:spcAft>
              <a:defRPr sz="900" b="0">
                <a:solidFill>
                  <a:srgbClr val="536777"/>
                </a:solidFill>
                <a:latin typeface="DejaVu Sans"/>
              </a:defRPr>
            </a:pPr>
            <a:r>
              <a:t>Hướng dẫn đầy đủ: reports/Nhom10_Kich_ban_thuyet_trinh.md • docs/RUNBOOK.md</a:t>
            </a:r>
          </a:p>
        </p:txBody>
      </p:sp>
      <p:sp>
        <p:nvSpPr>
          <p:cNvPr id="7" name="TextBox 6"/>
          <p:cNvSpPr txBox="1"/>
          <p:nvPr/>
        </p:nvSpPr>
        <p:spPr>
          <a:xfrm>
            <a:off x="11109960" y="6400800"/>
            <a:ext cx="548640" cy="274320"/>
          </a:xfrm>
          <a:prstGeom prst="rect">
            <a:avLst/>
          </a:prstGeom>
          <a:noFill/>
        </p:spPr>
        <p:txBody>
          <a:bodyPr wrap="square" lIns="18288" rIns="18288" tIns="18288" bIns="18288">
            <a:spAutoFit/>
          </a:bodyPr>
          <a:lstStyle/>
          <a:p>
            <a:pPr>
              <a:spcAft>
                <a:spcPts val="1000"/>
              </a:spcAft>
              <a:defRPr sz="1000" b="1">
                <a:solidFill>
                  <a:srgbClr val="087E8B"/>
                </a:solidFill>
                <a:latin typeface="DejaVu Sans"/>
              </a:defRPr>
            </a:pPr>
            <a:r>
              <a:t>11</a:t>
            </a:r>
          </a:p>
        </p:txBody>
      </p:sp>
      <p:sp>
        <p:nvSpPr>
          <p:cNvPr id="8" name="TextBox 7"/>
          <p:cNvSpPr txBox="1"/>
          <p:nvPr/>
        </p:nvSpPr>
        <p:spPr>
          <a:xfrm>
            <a:off x="777240" y="1810512"/>
            <a:ext cx="10698480" cy="4206240"/>
          </a:xfrm>
          <a:prstGeom prst="rect">
            <a:avLst/>
          </a:prstGeom>
          <a:noFill/>
        </p:spPr>
        <p:txBody>
          <a:bodyPr wrap="square" lIns="18288" rIns="18288" tIns="18288" bIns="18288">
            <a:spAutoFit/>
          </a:bodyPr>
          <a:lstStyle/>
          <a:p>
            <a:pPr>
              <a:spcAft>
                <a:spcPts val="1000"/>
              </a:spcAft>
              <a:defRPr sz="2500" b="0">
                <a:solidFill>
                  <a:srgbClr val="15344C"/>
                </a:solidFill>
                <a:latin typeface="DejaVu Sans"/>
              </a:defRPr>
            </a:pPr>
            <a:r>
              <a:t>00:00  Xác minh nguồn và checksum raw</a:t>
            </a:r>
          </a:p>
          <a:p>
            <a:pPr>
              <a:spcAft>
                <a:spcPts val="1000"/>
              </a:spcAft>
              <a:defRPr sz="2500" b="0">
                <a:solidFill>
                  <a:srgbClr val="15344C"/>
                </a:solidFill>
                <a:latin typeface="DejaVu Sans"/>
              </a:defRPr>
            </a:pPr>
            <a:r>
              <a:t>00:45  Notebook 01: 31.069 → 28.987 listing</a:t>
            </a:r>
          </a:p>
          <a:p>
            <a:pPr>
              <a:spcAft>
                <a:spcPts val="1000"/>
              </a:spcAft>
              <a:defRPr sz="2500" b="0">
                <a:solidFill>
                  <a:srgbClr val="15344C"/>
                </a:solidFill>
                <a:latin typeface="DejaVu Sans"/>
              </a:defRPr>
            </a:pPr>
            <a:r>
              <a:t>01:30  Notebook 02–03: r/p/n và hình từ dữ liệu thực</a:t>
            </a:r>
          </a:p>
          <a:p>
            <a:pPr>
              <a:spcAft>
                <a:spcPts val="1000"/>
              </a:spcAft>
              <a:defRPr sz="2500" b="0">
                <a:solidFill>
                  <a:srgbClr val="15344C"/>
                </a:solidFill>
                <a:latin typeface="DejaVu Sans"/>
              </a:defRPr>
            </a:pPr>
            <a:r>
              <a:t>02:30  Notebook 04: train/CV, chọn biến và benchmark</a:t>
            </a:r>
          </a:p>
          <a:p>
            <a:pPr>
              <a:spcAft>
                <a:spcPts val="1000"/>
              </a:spcAft>
              <a:defRPr sz="2500" b="0">
                <a:solidFill>
                  <a:srgbClr val="15344C"/>
                </a:solidFill>
                <a:latin typeface="DejaVu Sans"/>
              </a:defRPr>
            </a:pPr>
            <a:r>
              <a:t>03:45  Đối chiếu một bảng, một hình trong báo cáo</a:t>
            </a:r>
          </a:p>
          <a:p>
            <a:pPr>
              <a:spcAft>
                <a:spcPts val="1000"/>
              </a:spcAft>
              <a:defRPr sz="2500" b="0">
                <a:solidFill>
                  <a:srgbClr val="15344C"/>
                </a:solidFill>
                <a:latin typeface="DejaVu Sans"/>
              </a:defRPr>
            </a:pPr>
            <a:r>
              <a:t>04:30  Giải thích giới hạn và trả lời câu hỏi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0058400" cy="274320"/>
          </a:xfrm>
          <a:prstGeom prst="rect">
            <a:avLst/>
          </a:prstGeom>
          <a:noFill/>
        </p:spPr>
        <p:txBody>
          <a:bodyPr wrap="square" lIns="18288" rIns="18288" tIns="18288" bIns="18288">
            <a:spAutoFit/>
          </a:bodyPr>
          <a:lstStyle/>
          <a:p>
            <a:pPr>
              <a:spcAft>
                <a:spcPts val="1000"/>
              </a:spcAft>
              <a:defRPr sz="1100" b="0">
                <a:solidFill>
                  <a:srgbClr val="536777"/>
                </a:solidFill>
                <a:latin typeface="DejaVu Sans"/>
              </a:defRPr>
            </a:pPr>
            <a:r>
              <a:t>IE313 • NHÓM 10 • AIRBNB BANGKOK</a:t>
            </a:r>
          </a:p>
        </p:txBody>
      </p:sp>
      <p:sp>
        <p:nvSpPr>
          <p:cNvPr id="4" name="TextBox 3"/>
          <p:cNvSpPr txBox="1"/>
          <p:nvPr/>
        </p:nvSpPr>
        <p:spPr>
          <a:xfrm>
            <a:off x="502920" y="768096"/>
            <a:ext cx="11155680" cy="731520"/>
          </a:xfrm>
          <a:prstGeom prst="rect">
            <a:avLst/>
          </a:prstGeom>
          <a:noFill/>
        </p:spPr>
        <p:txBody>
          <a:bodyPr wrap="square" lIns="18288" rIns="18288" tIns="18288" bIns="18288">
            <a:spAutoFit/>
          </a:bodyPr>
          <a:lstStyle/>
          <a:p>
            <a:pPr>
              <a:spcAft>
                <a:spcPts val="1000"/>
              </a:spcAft>
              <a:defRPr sz="2900" b="1">
                <a:solidFill>
                  <a:srgbClr val="15344C"/>
                </a:solidFill>
                <a:latin typeface="DejaVu Sans"/>
              </a:defRPr>
            </a:pPr>
            <a:r>
              <a:t>Trao đổi và câu hỏi</a:t>
            </a:r>
          </a:p>
        </p:txBody>
      </p:sp>
      <p:sp>
        <p:nvSpPr>
          <p:cNvPr id="5" name="Rectangle 4"/>
          <p:cNvSpPr/>
          <p:nvPr/>
        </p:nvSpPr>
        <p:spPr>
          <a:xfrm>
            <a:off x="502920" y="6291072"/>
            <a:ext cx="11155680" cy="10972"/>
          </a:xfrm>
          <a:prstGeom prst="rect">
            <a:avLst/>
          </a:prstGeom>
          <a:solidFill>
            <a:srgbClr val="CFDB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400800"/>
            <a:ext cx="10607040" cy="292608"/>
          </a:xfrm>
          <a:prstGeom prst="rect">
            <a:avLst/>
          </a:prstGeom>
          <a:noFill/>
        </p:spPr>
        <p:txBody>
          <a:bodyPr wrap="square" lIns="18288" rIns="18288" tIns="18288" bIns="18288">
            <a:spAutoFit/>
          </a:bodyPr>
          <a:lstStyle/>
          <a:p>
            <a:pPr>
              <a:spcAft>
                <a:spcPts val="1000"/>
              </a:spcAft>
              <a:defRPr sz="900" b="0">
                <a:solidFill>
                  <a:srgbClr val="536777"/>
                </a:solidFill>
                <a:latin typeface="DejaVu Sans"/>
              </a:defRPr>
            </a:pPr>
            <a:r>
              <a:t>Inside Airbnb: insideairbnb.com/get-the-data/ • Nguồn phương pháp đầy đủ trong báo cáo và docs/</a:t>
            </a:r>
          </a:p>
        </p:txBody>
      </p:sp>
      <p:sp>
        <p:nvSpPr>
          <p:cNvPr id="7" name="TextBox 6"/>
          <p:cNvSpPr txBox="1"/>
          <p:nvPr/>
        </p:nvSpPr>
        <p:spPr>
          <a:xfrm>
            <a:off x="11109960" y="6400800"/>
            <a:ext cx="548640" cy="274320"/>
          </a:xfrm>
          <a:prstGeom prst="rect">
            <a:avLst/>
          </a:prstGeom>
          <a:noFill/>
        </p:spPr>
        <p:txBody>
          <a:bodyPr wrap="square" lIns="18288" rIns="18288" tIns="18288" bIns="18288">
            <a:spAutoFit/>
          </a:bodyPr>
          <a:lstStyle/>
          <a:p>
            <a:pPr>
              <a:spcAft>
                <a:spcPts val="1000"/>
              </a:spcAft>
              <a:defRPr sz="1000" b="1">
                <a:solidFill>
                  <a:srgbClr val="087E8B"/>
                </a:solidFill>
                <a:latin typeface="DejaVu Sans"/>
              </a:defRPr>
            </a:pPr>
            <a:r>
              <a:t>12</a:t>
            </a:r>
          </a:p>
        </p:txBody>
      </p:sp>
      <p:sp>
        <p:nvSpPr>
          <p:cNvPr id="8" name="TextBox 7"/>
          <p:cNvSpPr txBox="1"/>
          <p:nvPr/>
        </p:nvSpPr>
        <p:spPr>
          <a:xfrm>
            <a:off x="777240" y="1874519"/>
            <a:ext cx="10698480" cy="3200400"/>
          </a:xfrm>
          <a:prstGeom prst="rect">
            <a:avLst/>
          </a:prstGeom>
          <a:noFill/>
        </p:spPr>
        <p:txBody>
          <a:bodyPr wrap="square" lIns="18288" rIns="18288" tIns="18288" bIns="18288">
            <a:spAutoFit/>
          </a:bodyPr>
          <a:lstStyle/>
          <a:p>
            <a:pPr>
              <a:spcAft>
                <a:spcPts val="1000"/>
              </a:spcAft>
              <a:defRPr sz="2800" b="0">
                <a:solidFill>
                  <a:srgbClr val="15344C"/>
                </a:solidFill>
                <a:latin typeface="DejaVu Sans"/>
              </a:defRPr>
            </a:pPr>
            <a:r>
              <a:t>Vì sao giữ giá cực trị?</a:t>
            </a:r>
          </a:p>
          <a:p>
            <a:pPr>
              <a:spcAft>
                <a:spcPts val="1000"/>
              </a:spcAft>
              <a:defRPr sz="2800" b="0">
                <a:solidFill>
                  <a:srgbClr val="15344C"/>
                </a:solidFill>
                <a:latin typeface="DejaVu Sans"/>
              </a:defRPr>
            </a:pPr>
            <a:r>
              <a:t>Vì sao p rất nhỏ nhưng r vẫn yếu?</a:t>
            </a:r>
          </a:p>
          <a:p>
            <a:pPr>
              <a:spcAft>
                <a:spcPts val="1000"/>
              </a:spcAft>
              <a:defRPr sz="2800" b="0">
                <a:solidFill>
                  <a:srgbClr val="15344C"/>
                </a:solidFill>
                <a:latin typeface="DejaVu Sans"/>
              </a:defRPr>
            </a:pPr>
            <a:r>
              <a:t>Vì sao chưa xây hồi quy Linear/Ridge?</a:t>
            </a:r>
          </a:p>
          <a:p>
            <a:pPr>
              <a:spcAft>
                <a:spcPts val="1000"/>
              </a:spcAft>
              <a:defRPr sz="2800" b="0">
                <a:solidFill>
                  <a:srgbClr val="15344C"/>
                </a:solidFill>
                <a:latin typeface="DejaVu Sans"/>
              </a:defRPr>
            </a:pPr>
            <a:r>
              <a:t>Train/test ngẫu nhiên có đánh giá host mới không?</a:t>
            </a:r>
          </a:p>
        </p:txBody>
      </p:sp>
      <p:sp>
        <p:nvSpPr>
          <p:cNvPr id="9" name="TextBox 8"/>
          <p:cNvSpPr txBox="1"/>
          <p:nvPr/>
        </p:nvSpPr>
        <p:spPr>
          <a:xfrm>
            <a:off x="777240" y="5577840"/>
            <a:ext cx="10698480" cy="457200"/>
          </a:xfrm>
          <a:prstGeom prst="rect">
            <a:avLst/>
          </a:prstGeom>
          <a:noFill/>
        </p:spPr>
        <p:txBody>
          <a:bodyPr wrap="square" lIns="18288" rIns="18288" tIns="18288" bIns="18288">
            <a:spAutoFit/>
          </a:bodyPr>
          <a:lstStyle/>
          <a:p>
            <a:pPr>
              <a:spcAft>
                <a:spcPts val="1000"/>
              </a:spcAft>
              <a:defRPr sz="2200" b="1">
                <a:solidFill>
                  <a:srgbClr val="087E8B"/>
                </a:solidFill>
                <a:latin typeface="DejaVu Sans"/>
              </a:defRPr>
            </a:pPr>
            <a:r>
              <a:t>Nhóm 10 • Phạm Quốc Thắng &amp; Lê Minh Thiện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345</TotalTime>
  <Words>200</Words>
  <Application>Microsoft Office PowerPoint</Application>
  <PresentationFormat>Widescreen</PresentationFormat>
  <Paragraphs>49</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Calibri Light</vt:lpstr>
      <vt:lpstr>Office Theme</vt:lpstr>
      <vt:lpstr>TRƯỜNG ĐẠI HỌC CNTT KHOA …</vt:lpstr>
      <vt:lpstr>Giới thiệu nhóm (nếu có, không bắt buộc)</vt:lpstr>
      <vt:lpstr>Nội dung</vt:lpstr>
      <vt:lpstr>1. Giới thiệu</vt:lpstr>
      <vt:lpstr>2. Mô tả bộ dữ liệu</vt:lpstr>
      <vt:lpstr>3. Nội dung ……</vt:lpstr>
      <vt:lpstr>3. Kết quả</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TRƯỜNG ĐẠI HỌC QUỐC THẾ HỒNG BÀNG KHOA CÔNG NGHỆ THÔNG TIN</dc:title>
  <dc:creator>Phạm Thế Sơn</dc:creator>
  <cp:lastModifiedBy>Phạm Thế Sơn (Giảng viên)</cp:lastModifiedBy>
  <cp:revision>13</cp:revision>
  <dcterms:created xsi:type="dcterms:W3CDTF">2019-05-29T02:00:47Z</dcterms:created>
  <dcterms:modified xsi:type="dcterms:W3CDTF">2026-01-06T13:09:26Z</dcterms:modified>
</cp:coreProperties>
</file>